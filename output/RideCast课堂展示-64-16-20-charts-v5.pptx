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80af5a2884786" /><Relationship Type="http://schemas.openxmlformats.org/officeDocument/2006/relationships/extended-properties" Target="/docProps/app.xml" Id="Rab8c9b931e004bfe" /><Relationship Type="http://schemas.openxmlformats.org/officeDocument/2006/relationships/officeDocument" Target="/ppt/presentation.xml" Id="R7a84aa794035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44a30af6f498c"/>
  </p:sldMasterIdLst>
  <p:notesMasterIdLst>
    <p:notesMasterId xmlns:r="http://schemas.openxmlformats.org/officeDocument/2006/relationships" r:id="Ra1544e81ae554781"/>
  </p:notesMasterIdLst>
  <p:sldIdLst>
    <p:sldId xmlns:r="http://schemas.openxmlformats.org/officeDocument/2006/relationships" id="256" r:id="R2dbe5ccc30974c61"/>
    <p:sldId xmlns:r="http://schemas.openxmlformats.org/officeDocument/2006/relationships" id="257" r:id="R42c0ebf3f12145d5"/>
    <p:sldId xmlns:r="http://schemas.openxmlformats.org/officeDocument/2006/relationships" id="258" r:id="R4401b512ac214483"/>
    <p:sldId xmlns:r="http://schemas.openxmlformats.org/officeDocument/2006/relationships" id="259" r:id="R3430f00fd7864332"/>
    <p:sldId xmlns:r="http://schemas.openxmlformats.org/officeDocument/2006/relationships" id="260" r:id="R979badc868da4e18"/>
    <p:sldId xmlns:r="http://schemas.openxmlformats.org/officeDocument/2006/relationships" id="261" r:id="Rdf3f76a44647481a"/>
    <p:sldId xmlns:r="http://schemas.openxmlformats.org/officeDocument/2006/relationships" id="262" r:id="R56de789e38ad444d"/>
    <p:sldId xmlns:r="http://schemas.openxmlformats.org/officeDocument/2006/relationships" id="263" r:id="R9444cc696a4e4ca9"/>
    <p:sldId xmlns:r="http://schemas.openxmlformats.org/officeDocument/2006/relationships" id="264" r:id="R4ed94fc091424c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3dd6e618d4b6a" /><Relationship Type="http://schemas.openxmlformats.org/officeDocument/2006/relationships/slideMaster" Target="/ppt/slideMasters/slideMaster1.xml" Id="R89a44a30af6f498c" /><Relationship Type="http://schemas.openxmlformats.org/officeDocument/2006/relationships/notesMaster" Target="/ppt/notesMasters/notesMaster1.xml" Id="Ra1544e81ae554781" /><Relationship Type="http://schemas.openxmlformats.org/officeDocument/2006/relationships/presProps" Target="/ppt/presProps.xml" Id="R53b3d545594b4930" /><Relationship Type="http://schemas.openxmlformats.org/officeDocument/2006/relationships/viewProps" Target="/ppt/viewProps.xml" Id="Raf3f49c53bb243fd" /><Relationship Type="http://schemas.openxmlformats.org/officeDocument/2006/relationships/tableStyles" Target="/ppt/tableStyles.xml" Id="Rc15e309879eb450f" /><Relationship Type="http://schemas.openxmlformats.org/officeDocument/2006/relationships/slide" Target="/ppt/slides/slide1.xml" Id="R2dbe5ccc30974c61" /><Relationship Type="http://schemas.openxmlformats.org/officeDocument/2006/relationships/slide" Target="/ppt/slides/slide2.xml" Id="R42c0ebf3f12145d5" /><Relationship Type="http://schemas.openxmlformats.org/officeDocument/2006/relationships/slide" Target="/ppt/slides/slide3.xml" Id="R4401b512ac214483" /><Relationship Type="http://schemas.openxmlformats.org/officeDocument/2006/relationships/slide" Target="/ppt/slides/slide4.xml" Id="R3430f00fd7864332" /><Relationship Type="http://schemas.openxmlformats.org/officeDocument/2006/relationships/slide" Target="/ppt/slides/slide5.xml" Id="R979badc868da4e18" /><Relationship Type="http://schemas.openxmlformats.org/officeDocument/2006/relationships/slide" Target="/ppt/slides/slide6.xml" Id="Rdf3f76a44647481a" /><Relationship Type="http://schemas.openxmlformats.org/officeDocument/2006/relationships/slide" Target="/ppt/slides/slide7.xml" Id="R56de789e38ad444d" /><Relationship Type="http://schemas.openxmlformats.org/officeDocument/2006/relationships/slide" Target="/ppt/slides/slide8.xml" Id="R9444cc696a4e4ca9" /><Relationship Type="http://schemas.openxmlformats.org/officeDocument/2006/relationships/slide" Target="/ppt/slides/slide9.xml" Id="R4ed94fc09142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ed86fa797e40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2582e0f874ab8" /><Relationship Type="http://schemas.openxmlformats.org/officeDocument/2006/relationships/notesMaster" Target="/ppt/notesMasters/notesMaster1.xml" Id="R80e7ee890c75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eb770b2464525" /><Relationship Type="http://schemas.openxmlformats.org/officeDocument/2006/relationships/notesMaster" Target="/ppt/notesMasters/notesMaster1.xml" Id="R69b9716ea24b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5053cbb3fb4935" /><Relationship Type="http://schemas.openxmlformats.org/officeDocument/2006/relationships/notesMaster" Target="/ppt/notesMasters/notesMaster1.xml" Id="Rd6fbb004887e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ec5c3891149f0" /><Relationship Type="http://schemas.openxmlformats.org/officeDocument/2006/relationships/notesMaster" Target="/ppt/notesMasters/notesMaster1.xml" Id="R1cd3b080da8d48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ea7c72b62f4091" /><Relationship Type="http://schemas.openxmlformats.org/officeDocument/2006/relationships/notesMaster" Target="/ppt/notesMasters/notesMaster1.xml" Id="Rf8ee77b57cc646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f53dac7e04109" /><Relationship Type="http://schemas.openxmlformats.org/officeDocument/2006/relationships/notesMaster" Target="/ppt/notesMasters/notesMaster1.xml" Id="Rbdafbba104064a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f716ef95c4a00" /><Relationship Type="http://schemas.openxmlformats.org/officeDocument/2006/relationships/notesMaster" Target="/ppt/notesMasters/notesMaster1.xml" Id="R24470eb3c15f4d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345b7edea740a9" /><Relationship Type="http://schemas.openxmlformats.org/officeDocument/2006/relationships/notesMaster" Target="/ppt/notesMasters/notesMaster1.xml" Id="R8c44321539724e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e182bab414058" /><Relationship Type="http://schemas.openxmlformats.org/officeDocument/2006/relationships/notesMaster" Target="/ppt/notesMasters/notesMaster1.xml" Id="R239d99497dfc4a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开场：共享单车需求估计器。用户输入日期、小时和天气条件，网页返回预计租借量。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UCI Seoul Bike Sharing Demand，共 8,760 条逐小时记录。预测目标是每小时租借量。按时间顺序划分前 64% 训练、中间 16% 验证、最后 20% 测试。验证集选择特征和 alpha，最终测试集只用于最后评价。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数据按时间顺序分为 64% 训练、16% 验证和 20% 测试。前 64% 训练候选 Ridge 模型，验证集选择是否加入温度平方项和 alpha。确定方案后用前 80% 重新拟合完整 Pipeline，最后 20% 只评价一次。Flask 加载保存的 Pipeline 处理网页输入。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这是监督学习中的回归问题。Ridge 训练优化平方损失加 L2 正则化。候选 alpha 在验证集上选择，最终为 0.1。MAE 和 R² 是最终测试集的报告指标，不是训练时直接优化的目标。网页输入仍是原始单位，Pipeline 自动做相同的转换。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64% 共 5,606 条训练记录，中间 16% 共 1,402 条验证记录，最后 20% 共 1,752 条测试记录。验证集选择了不含温度平方项的 Ridge 模型，alpha 为 0.1。用前 80% 重新训练后，最终测试集 MAE 为 296.03 辆每小时，R² 为 0.485。两个时间块的指标不可直接当作模型改善幅度比较。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标准化后的数值系数表示增加一个训练集标准差时的预测变化，不能解释成每增加 1°C 的变化。运行日系数约 +839.90，温度约 +386.35，湿度约 -118.99。最大误差发生在 2018 年 10 月 1 日 18 点，实际 2,857，预测约 970。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现场演示使用日期 2026-09-22、17 点、温度 18°C、湿度 55%、无雨雪、非节假日、系统运行。新的模型文件在本地给出约 1,057 辆每小时。线上 Render 服务若尚未部署本次修改，仍可能返回旧模型结果。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按时间顺序切分，验证集选择模型后用前 80% 重训，最后 20% 只评价一次。最终测试集 MAE 为 296.03 辆每小时，R² 为 0.485。完整 Pipeline 保证离线评估与网页预测采用相同处理。当前结果适合课堂演示，跨城市或长期使用需要重新验证。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e8bbd2e1a44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92b06ceea40c1" /><Relationship Type="http://schemas.openxmlformats.org/officeDocument/2006/relationships/slideLayout" Target="/ppt/slideLayouts/slideLayout1.xml" Id="R503e20b47328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e20b47328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af7d279b2437b" /><Relationship Type="http://schemas.openxmlformats.org/officeDocument/2006/relationships/notesSlide" Target="/ppt/notesSlides/notesSlide1.xml" Id="R9577e503d7d1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3437c9f964d3f" /><Relationship Type="http://schemas.openxmlformats.org/officeDocument/2006/relationships/notesSlide" Target="/ppt/notesSlides/notesSlide2.xml" Id="R6abf9c99c8e0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8b158cba46de" /><Relationship Type="http://schemas.openxmlformats.org/officeDocument/2006/relationships/notesSlide" Target="/ppt/notesSlides/notesSlide3.xml" Id="Rd2d90ff455f04e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a837c424b4d3c" /><Relationship Type="http://schemas.openxmlformats.org/officeDocument/2006/relationships/notesSlide" Target="/ppt/notesSlides/notesSlide4.xml" Id="Rdb56a09fe71f4d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db27c4aa4404" /><Relationship Type="http://schemas.openxmlformats.org/officeDocument/2006/relationships/image" Target="/ppt/media/image.png" Id="R6108159a9e6e4023" /><Relationship Type="http://schemas.openxmlformats.org/officeDocument/2006/relationships/notesSlide" Target="/ppt/notesSlides/notesSlide5.xml" Id="Rbb556531b42444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9356230bb4b49" /><Relationship Type="http://schemas.openxmlformats.org/officeDocument/2006/relationships/image" Target="/ppt/media/image2.png" Id="Ra30bc8f86c934739" /><Relationship Type="http://schemas.openxmlformats.org/officeDocument/2006/relationships/image" Target="/ppt/media/image3.png" Id="R71ae18d906644d32" /><Relationship Type="http://schemas.openxmlformats.org/officeDocument/2006/relationships/notesSlide" Target="/ppt/notesSlides/notesSlide6.xml" Id="R9f226dc076a1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328e62cd3423f" /><Relationship Type="http://schemas.openxmlformats.org/officeDocument/2006/relationships/notesSlide" Target="/ppt/notesSlides/notesSlide7.xml" Id="R5426c73bafe6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ff27c26f4abf" /><Relationship Type="http://schemas.openxmlformats.org/officeDocument/2006/relationships/notesSlide" Target="/ppt/notesSlides/notesSlide8.xml" Id="R3aa267874617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f0870f494cc0" /><Relationship Type="http://schemas.openxmlformats.org/officeDocument/2006/relationships/notesSlide" Target="/ppt/notesSlides/notesSlide9.xml" Id="Rf395a018a2044c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A62E6B7-4803-46EB-8140-C6D97BD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BC39BBC4-B434-47E3-B43E-6455003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5C"/>
          </a:solidFill>
          <a:ln xmlns:a="http://schemas.openxmlformats.org/drawingml/2006/main" w="9525">
            <a:solidFill>
              <a:srgbClr val="2024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71B80D54-D537-47F7-91AE-59082D0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2B79"/>
          </a:solidFill>
          <a:ln xmlns:a="http://schemas.openxmlformats.org/drawingml/2006/main" w="9525">
            <a:solidFill>
              <a:srgbClr val="5A2B7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26787B8C-ED54-40D1-997A-EF24A2D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786A08C-0356-473B-8058-7A4CC3F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784C904-EC36-4F86-946E-2B24C60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766DD9-01BE-43F4-82B1-C0C3D6A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4BA01-5E2C-4C7F-8FBF-22B0685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B31F51-44B7-416A-9EEC-CD120F67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第 15 组 · 回归模型项目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883854A-05F9-4819-8B52-3B73DA0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下一小时，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会有多少人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骑上单车？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5C856BF-4D2E-4915-AC29-EF10FB0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共享单车需求估计器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3C0AF85-4B1B-4CBA-8043-C30A21E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输入时间与天气条件，让模型估计首尔共享单车每小时租借量。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8EAF8B-F849-411B-A937-33FB335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8,760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9104071-8CF5-4744-ADBC-B9352F6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逐小时记录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AFCFE4F-A2C7-4F1F-936D-A8CE1CBC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578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 / 16 / 20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EED4A99-9F0C-4C62-8412-1C33B9D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150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时间顺序切分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DFEDB3-BF94-47D4-B592-4956D1D8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57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5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 + R²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6E5686-F1CC-450C-B05F-762D6C16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15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测试集评价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22236EB6-6E2E-48FA-ABBD-96E073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4762500" cy="4095750"/>
          </a:xfrm>
          <a:prstGeom xmlns:a="http://schemas.openxmlformats.org/drawingml/2006/main" prst="roundRect">
            <a:avLst>
              <a:gd name="adj" fmla="val 6047"/>
            </a:avLst>
          </a:prstGeom>
          <a:solidFill xmlns:a="http://schemas.openxmlformats.org/drawingml/2006/main">
            <a:srgbClr val="191B40"/>
          </a:solidFill>
          <a:ln xmlns:a="http://schemas.openxmlformats.org/drawingml/2006/main" w="9525">
            <a:solidFill>
              <a:srgbClr val="4549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C097F2D-01A0-49B6-856A-775AA49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5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需求监测面板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6543320-92DF-4631-93B1-A67E525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097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3A"/>
          </a:solidFill>
          <a:ln xmlns:a="http://schemas.openxmlformats.org/drawingml/2006/main" w="9525">
            <a:solidFill>
              <a:srgbClr val="173E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4F23FE8-C02F-4BC8-AE13-28D08C2D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28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● LIVE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ED4227D-DEA0-40AD-B057-EB0A02F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B540025-F318-4F94-8D10-36EE649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FE1F1BA-0E3D-4C92-B718-39C2BD8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预计租借量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1E0C0C-41E6-47A8-AD13-7444D471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742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B813F5C-CC2C-4A43-A358-0C99E005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4760FFB-C907-4049-BD58-716EB86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7FAAFBF-1F9D-436E-B9CD-BE3F8B6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较上小时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A138B31-C48A-456B-931E-020544A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0BF68DC-BF64-4354-BAC8-3D7EBD7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晚高峰上升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00EFEE4-AB86-43E3-B91E-1D5EE89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06:00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8DB1CEC-33C4-43BE-A676-B97B6E1C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12:00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06485B2-8CCB-4DE2-89DB-2D590D5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18:00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0F2CA66-5C49-4FE0-B861-0CA7B09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23:00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EC872ECA-98F4-4548-A03E-5EDCA7A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190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56AC5B3A-CF22-47A0-8CC6-90F52AC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190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1A4A12B8-9C44-4B18-B5B2-14626DB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190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7DD6CDF6-FAF5-430D-905A-25F69EA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190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7DE69898-1A60-4712-B13C-9882149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1905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9D9A63BF-B48E-4CB8-B890-35FCB651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62400"/>
            <a:ext cx="1905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6A3C6599-4DDF-4531-819D-AD654AD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71950"/>
            <a:ext cx="19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699530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030AEC9F-5832-43DF-A890-9B49326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856C697-E7A4-46FD-8B69-3530C46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B24C1B-9731-4BE6-B0C7-A1F81A8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54561B4-A292-472C-9477-BF25400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1F8E9DC-6C71-4E15-A250-2764621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07A3414-3C55-4F89-8499-829DB39A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0E0F97-F4D6-4168-BF32-6F07DC61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C941672-E943-4E0C-9F1B-41DE34D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先定义可预测的目标，再说明每个输入在什么时候可获得。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3C1E0E69-AAEE-4089-BA0A-4FC00EA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9C6E82-C372-4635-9D94-FE3F48A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目标变量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E0C3DCD-E124-429D-B895-8DF18E9E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Rented Bike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9688592-EB2D-41AD-B4EE-9EA7FB1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每小时租借量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单位：辆 / 小时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0787DED4-C6C5-48DD-B35D-C70BAA9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4EF907-308A-4ECE-A28F-1ADCA64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连续数值 → 回归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5749BE03-E048-4266-851F-9FDAAF2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33425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5C342E-684F-484B-A63D-14D242E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UCI Seoul Bike Sharing Demand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5142D4-8CFB-480D-8D63-1146A01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8,760 条逐小时记录 · 2017-12 至 2018-11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3C1D0B71-1F14-44BB-9D71-76D768A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908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F49CF59-320C-4668-B85C-6525655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70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FCC1FCD-0E84-42A7-89F0-5CCB46F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日期 · 小时 · 星期 · 月份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5B3C7F29-7740-457C-A9AF-71D1E51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D3B0E9D-6DBD-4A50-96C4-7176168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0ED34A-F84D-4894-9B29-53F60A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19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温度 · 湿度 · 降雨 · 降雪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903BE9B-04B5-41B9-A41E-B698708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719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6E3E6AA-DC1B-4FB9-B59C-2802FE76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400C205-88B8-4A7D-9C93-74787EA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节假日 · 系统是否运行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0493E84C-8256-4D8B-B17E-C531F3F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6324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7FF55CE-9F7E-43FE-9F68-71DF8F1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40481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F4880EC0-B6CA-4311-A6BC-53F347C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91100"/>
            <a:ext cx="22764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E45274C-A439-4F14-87A3-BC4598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57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64% 训练集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6B1C3B9-A287-49D9-B908-9555EEB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57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16% 验证 + 20% 测试</a:t>
            </a:r>
          </a:p>
        </p:txBody>
      </p:sp>
    </p:spTree>
    <p:extLst>
      <p:ext uri="{BB962C8B-B14F-4D97-AF65-F5344CB8AC3E}">
        <p14:creationId xmlns:p14="http://schemas.microsoft.com/office/powerpoint/2010/main" val="1755641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61814431-0004-4EE0-8A9E-C6FDDE1A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237A38-4505-4D5E-A971-C63AB7D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4DAABE-BA61-41E4-BCD1-AA4E0FF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BC83E7-0499-49D6-9DBE-3366D5B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1CDF2AE-8848-489C-860F-C571D91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16A0F7-9B9B-435C-8E78-7CF63CE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17D49-4752-401F-BCD1-DB9439E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9699CE9-6A63-41F4-8EC5-408F70D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网页与离线评估复用同一条 Pipeline，避免处理步骤不一致。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811D34A4-48B4-4F44-8C16-E36964C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33909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B2C2925-CA6B-4DCB-BE53-794DD358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CB7BD52-CCCA-450A-B953-1A7BAA3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FC6793-BBFF-4B89-ACFD-BD2CE956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515233D-BDBA-4B04-A32F-3DBC9CF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 / 天气 / 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BA25BD-D49D-476E-8A3E-208F51C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CE56BC39-7EBF-40A7-8FD8-C2812ED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576F2B-6437-444D-9A09-EE363DB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1E8801B-776D-4C8E-B347-E4A4B77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统一预处理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0DF0116-A588-4981-9CE4-EFCC333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填补 · 编码 · 标准化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50E35B-FCA0-41E4-B479-7689A5A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94C6A5F9-E241-4048-93AA-94B3E94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0A4AB1D-420B-4A70-8480-DEB9F24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C6ADF8A-DA36-43B2-A388-AC555BE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Ridge 回归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106AE7C-06E9-4725-9B02-8ACB8F9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学习连续租借量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0F803B2-9A42-4A9E-B2DB-5B4B836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476BD73F-D73B-496F-8EE0-E9518F6C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3932545-8057-4DC4-AAE8-C8500EA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06EEFC4-AB95-4924-B622-F8CD69E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D95AD12-6B97-4330-BC12-00A7D53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网页返回预测值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8E72B45B-4B67-4441-990A-F6301EC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2A50ED1-5314-4A22-AD99-86C2D1C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64% 训练候选模型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D5EF29AA-1566-4547-8866-344D530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5B42538-59C3-407E-9348-0E72CA2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16% 验证选择方案</a:t>
            </a:r>
          </a:p>
        </p:txBody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D9FB7989-0BC8-4D74-A964-45EAC1A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2190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53BBD52-3D24-4695-908D-8B9FB96E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910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前 80% 重训并保存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3246627-450F-4527-B3A0-EE54027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特征候选：线性 / temperature²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797AA9D-1E46-4AC5-8862-BCAB9E7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选择：Ridge(alpha = 0.1)</a:t>
            </a:r>
          </a:p>
        </p:txBody>
      </p:sp>
    </p:spTree>
    <p:extLst>
      <p:ext uri="{BB962C8B-B14F-4D97-AF65-F5344CB8AC3E}">
        <p14:creationId xmlns:p14="http://schemas.microsoft.com/office/powerpoint/2010/main" val="584815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78E53FB6-1742-45F3-9528-83B039F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6DE995-1CA3-4686-84F3-D88FCF8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B583DEE-F7BA-4E96-BEFB-97481FA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87B99CA-E1C3-4D0F-9DF0-2E8CC4CF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模型原理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9CF725C-91C4-4B12-BE19-A60A889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24C0F5-3044-4A60-B539-5481AA0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1CFF38E-83FF-46B5-8CC5-6C46A55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模型原理：Ridge 回归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76CD4B5-8C14-4D58-BAB5-A2B183C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平方损失负责拟合，L2 正则化负责控制系数规模。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80332092-708D-44D6-915D-6DF370E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6675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045726F6-724D-4FE8-9D55-8041C54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066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675F678-8AEC-4490-831D-9A0EEF2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目标函数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112716-346D-43A5-B9A4-828ADA4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L(w,b) = (1 / 2n) ||y − Xw − b||₂² + α||w||₂²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91CB3C1-E618-4E5A-801D-3FF480B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第一项：平方损失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55EAEDA-8B5B-41B5-A344-12433B2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预测偏差越大，惩罚按平方增长。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0544D6C-11D3-4D7D-8589-E6CAA40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第二项：L2 正则化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44BB26-5509-407B-8145-138600E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把过大的系数拉向 0，减小过拟合。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D4C868E2-D45B-4F6F-A36D-FFF73BF8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41148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489B"/>
          </a:solidFill>
          <a:ln xmlns:a="http://schemas.openxmlformats.org/drawingml/2006/main" w="9525">
            <a:solidFill>
              <a:srgbClr val="1748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1733E10-06B4-42BE-B47F-5DB8E9A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代码里的对应关系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F59D8A5-6262-48BF-9C46-2DA61E8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Ridge(alpha=0.1)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46E089B-BDCC-48F9-81B8-18402E2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67161B7-223C-4AF3-AABA-AC1948B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326546B-852A-4F5E-9931-E08E0AD6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StandardScaler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6122512-1023-4090-81F4-FF6145D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90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统一数值尺度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7B283D0-2BE2-455E-AC4A-B9F2B4CC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90C072-834C-4DFF-ADCB-0BCC20A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OneHotEncoder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9520FE-7622-45C1-A6E9-D605A28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类别转 0/1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2D41BF2-58D9-4C0B-8D44-E3B4F0B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9572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923F402-DC0B-4F77-97A6-E24B3EF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mean_absolute_error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82CE05A-688B-4ABF-BB59-75C6A4D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00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MAE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7B1B38B-6FEC-4065-805D-A4A0882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7623886-9EAF-43BA-AD78-3FD0AAC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r2_score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DD3DE89-CD30-4F77-8CA7-E314BA5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9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R²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7F6746E-2DD1-4AB7-8D05-848BFB1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报告指标：MAE = 平均相差多少辆；R² = 相对均值基线的改进。</a:t>
            </a:r>
          </a:p>
        </p:txBody>
      </p:sp>
    </p:spTree>
    <p:extLst>
      <p:ext uri="{BB962C8B-B14F-4D97-AF65-F5344CB8AC3E}">
        <p14:creationId xmlns:p14="http://schemas.microsoft.com/office/powerpoint/2010/main" val="823822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CC485AAA-DF33-4228-9C22-3E6FB1F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FEA104F-EDF9-4FD0-A02B-F7A593C3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07702A1-EBE7-4AC2-AEEA-50C919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1FBECCA-9E5F-4BCC-8763-D5F2361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0407A02-BE29-4502-B47C-DC3D765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50437A-F6EF-4CFD-80F0-530B33C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6341D0F-1344-4A53-B1E6-9C01686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测试集结果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2A7CC53-06B3-4298-A52A-52E82A7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验证集选择线性特征，最终测试只评价一次。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3B3C2AEB-2A9A-4544-A838-63372B2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344805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84DF05-C862-4277-84F4-472CCDBF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296.03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822ADA-4AFA-4E6A-885C-6F966CB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MAE · 辆 / 小时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331FF88-D16E-4527-822F-38900A8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0.485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0E3709B-531F-43DE-AB0E-52736AF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R² · 测试集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EA468B6-BCF5-4750-B253-3E0CE8A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418FEF1-9B55-4416-8968-F29E390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验证集选择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53339A7-15CA-4DBE-9C9F-628D82D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验证 MAE 520.58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96AEC1D-0F2A-4C71-AC63-BBB5157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验证 R² 0.035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642F2E33-C58E-4675-A7CF-3385B23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7391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102B8C4-3B41-41F0-B706-75AE1E9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选择与测试（不同时间块）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64085-A0BC-4C97-B339-DD8F49E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704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8159a9e6e4023"/>
          <a:stretch xmlns:a="http://schemas.openxmlformats.org/drawingml/2006/main"/>
        </p:blipFill>
        <p:spPr>
          <a:xfrm xmlns:a="http://schemas.openxmlformats.org/drawingml/2006/main">
            <a:off x="5053353" y="2628900"/>
            <a:ext cx="5895293" cy="2457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D939F5DD-1021-441D-B1E2-045EF5B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E537DD-4DA8-46F5-88D5-A36E68B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9872DAE-AA9B-4669-B88C-7FBB7B12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33C6C0-E32B-473A-8707-A3177BB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解释与误差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3A430E-51D2-4DE9-A88C-B80249B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CF1F126-29CE-471F-BD73-467B1AB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193F24F-1FB4-4DF5-B0B3-C6DC78C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模型解释与最大误差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70062D7-D5D1-4918-AE84-FF1C592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系数说明条件相关性，误差样本说明模型还缺少哪些信息。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CF452DA-BB36-4E48-BCB2-D67FF4E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286375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5E54"/>
          </a:solidFill>
          <a:ln xmlns:a="http://schemas.openxmlformats.org/drawingml/2006/main" w="9525">
            <a:solidFill>
              <a:srgbClr val="075E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2CED721-13B8-4FF7-AEC1-BB8FF5D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系数（前几项）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4AF3924-CA0C-4C42-BFF8-2DE39A3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运行日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C36CF3-BE37-4644-92FA-80D21D5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BE48F68-E27C-48CD-ABC7-437A599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0478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97EC9D-20B8-4F86-9868-7E35E55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+839.90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6C3073D-BF80-4273-A475-641E2D4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温度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1FAAF98-F40C-497E-8FD9-4B420F5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CCF82E5D-BABB-4B47-BBF9-50F3932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9429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6A1CC5F-91E3-42B1-A597-104180B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+386.35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B68CAAB-16D9-474E-BDBF-F26AA2A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491F105-1B8D-497C-8EE9-693D0E7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814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9FFFFA99-EF28-474B-AD8A-4804316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466189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49B298-A811-4F27-8BB2-DA69FF8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+191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06F3B7D-FE0B-4AD0-A116-9DBEC62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湿度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A68F1FE-1397-4279-83C7-F6197D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B3A7F769-95F3-4433-9E7F-79209AF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285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E250764-C9AD-4643-80E2-F4E768D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-118.99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FF19452-3515-4F16-8CAA-5E8A7DB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数值特征已标准化，系数表示增加一个标准差的影响。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C37E739E-EAE8-4984-BF03-F12412A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550545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C93665-2E2C-4E33-960D-079B011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04F3F5-0ADB-431D-BDFC-87047AC3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145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020"/>
                </a:solidFill>
              </a:defRPr>
            </a:pPr>
            <a:r>
              <a:rPr sz="750" b="1">
                <a:solidFill>
                  <a:srgbClr val="202020"/>
                </a:solidFill>
              </a:rPr>
              <a:t>小时条件曲线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66A47-819C-4CD6-8911-680F30E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145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020"/>
                </a:solidFill>
              </a:defRPr>
            </a:pPr>
            <a:r>
              <a:rPr sz="750" b="1">
                <a:solidFill>
                  <a:srgbClr val="202020"/>
                </a:solidFill>
              </a:rPr>
              <a:t>小时 × 温度预测面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bc8f86c934739"/>
          <a:stretch xmlns:a="http://schemas.openxmlformats.org/drawingml/2006/main"/>
        </p:blipFill>
        <p:spPr>
          <a:xfrm xmlns:a="http://schemas.openxmlformats.org/drawingml/2006/main">
            <a:off x="6381750" y="2532059"/>
            <a:ext cx="2333625" cy="1993908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e18d906644d32"/>
          <a:stretch xmlns:a="http://schemas.openxmlformats.org/drawingml/2006/main"/>
        </p:blipFill>
        <p:spPr>
          <a:xfrm xmlns:a="http://schemas.openxmlformats.org/drawingml/2006/main">
            <a:off x="8858250" y="2525418"/>
            <a:ext cx="2333625" cy="200719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76C1E-D995-450C-A14E-3A3A58DA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020"/>
                </a:solidFill>
              </a:defRPr>
            </a:pPr>
            <a:r>
              <a:rPr sz="750" b="1">
                <a:solidFill>
                  <a:srgbClr val="202020"/>
                </a:solidFill>
              </a:rPr>
              <a:t>最大误差：2018-10-01 18:00｜实际 2,857，预测 970</a:t>
            </a:r>
          </a:p>
        </p:txBody>
      </p:sp>
    </p:spTree>
    <p:extLst>
      <p:ext uri="{BB962C8B-B14F-4D97-AF65-F5344CB8AC3E}">
        <p14:creationId xmlns:p14="http://schemas.microsoft.com/office/powerpoint/2010/main" val="133165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65DBBF36-C5A7-46A7-9560-62EAF36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B35A90-9ED2-4B3A-BF5A-B3E5652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A8534E4-0B5B-449A-9546-C4D317B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C1B07B-EDBF-4DD9-9883-E52F70E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网页演示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D3E35E8-299C-4E94-A359-C6D5C1B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22AA16-8A06-48C3-8087-0AAB05F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2D7BAB-DFCA-4B9E-BE19-C359453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网页与后端调用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0179724-F2FD-4E03-A4B9-3C3B454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用户提交原始字段，Flask 调用启动时加载的完整 Pipeline。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0E7AA17-5A6C-4A6D-B112-1F8C616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8580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F1752F-DF00-420E-BE29-0EFEE13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本地新模型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ACE7A46-A61F-4D13-A336-D1449EC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输入条件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9C42FD9-5D05-4E44-848D-11E2CA0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515C5251-A343-4E1F-9FFF-D1643B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EAE3B2D-E94E-49A5-A954-1F1E5BE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2026-09-22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767DC15-CDB2-40B2-91E9-FAC7594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FA12D54-E734-4E09-97F6-A3AF21E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BFAE61-095A-43A9-945F-0D1234A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17:00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6260AA5-3BF9-4EDF-8C62-B41561F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温度 / 湿度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29709865-5AE5-4087-99C1-DA7A523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6425C08-E6A6-4B4A-B47A-20A2247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18°C  /  55%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1532C5E-372C-4E97-9309-6C1E935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降雨 / 降雪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67962E98-2B1E-4A5E-90E2-21B61B5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9805C0E-82F5-4C73-AA8F-1E99609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mm  /  0 cm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DC041F80-93B5-4EC2-816D-939D8586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56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9FB6076-263B-4B60-AAF0-07E9AC04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估计租借需求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C97FF4D-62E3-4BBF-B81B-11757B0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27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0DF86E87-427A-4E65-88F6-C1E53AD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9433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EB47931-5E05-4022-9273-F69232D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22DA8CA-FE95-4B6E-A6FC-BC4192D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B71A30-492C-4F96-B356-2C6E5B6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1,057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9CB21CF-EF8A-4A20-86D3-D5CD2FF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319F7E3-0998-41A1-8E78-87D142E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6F5"/>
          </a:solidFill>
          <a:ln xmlns:a="http://schemas.openxmlformats.org/drawingml/2006/main" w="9525">
            <a:solidFill>
              <a:srgbClr val="7E86F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1CDF93C-EED0-42DA-9213-C9D8DFA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模型状态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D31FE51-080A-48E9-A4A4-A420561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joblib Pipeline loaded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BCE7997-8462-48D9-BBCB-6165F2F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ridecast-ml-homework-1.onrender.com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FEEA1EEE-9B21-4F74-AE74-2E78BB15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429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BF89E90-7B29-44D6-A6FD-DE136D5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436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POST JSON → predict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721248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B66CA044-7749-401A-92F4-03E144C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A46F1B-97BF-40A4-ACA4-FD72950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4D2D57-5C93-48EC-960B-8CFEB4D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ABB90F6-1C06-421B-A0F8-7236002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0DB2F81-42DF-4D54-B650-9CB2E7A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7AAA18-A192-4359-8DB1-2F92383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A0F4851-4E6F-40C9-A669-8C9C6D43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4CEB625-BBE8-4A19-AA2A-B5B19D8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当前结果适合课堂演示和相近条件下的小时级估计。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6ED50E-72C0-4F2C-AF53-668984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495300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FE44AB3-456D-442A-891E-320D0D6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A2530A4-4C45-465A-AAB1-57A7CF2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本次完成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8C7FDD-6726-46D4-96CE-7B336E57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433819F-4786-49EB-8E94-7437680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模型：Ridge, alpha=0.1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F7B7315-6B53-452A-A234-CF96777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57B8ACC-D72E-42AD-89F3-ECDC6F3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评价：MAE 296.03 · R² 0.485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BEAB98-AB2C-4680-8328-B13F2F5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E69FEC4-E037-434D-8608-44ADEC5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工程：Pipeline + Flask + Render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4421D287-A56B-4EBB-A40F-A7497C0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77215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3CDBE2A9-749E-43D1-BF65-49F04A6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1333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5F00223-7354-4AE6-A655-7194381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局限与下一步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10C3109-6978-4A27-ABE2-EDA0A34A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033238-DC12-4F1D-A0D6-7529A22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只有首尔数据，跨城市需要重新训练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D35CD84-4107-428E-BB68-94DD57E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EAD44E1-A81F-473F-B110-31C545C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缺少活动、库存、站点与交通状态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4750672-0135-419C-9320-0CD53CB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EDCA714-9ADE-4386-ADB3-438E63D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极端天气属于外推，需更多实时特征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D1F11B6-F1C5-4235-95D3-C05B345F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2EB97ED-0009-4A19-88CB-946FEDB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下一步：滚动历史需求 + 交叉验证比较树模型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4F864AE-C70F-43D9-8B99-CEBCE122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5E89C69-1FA2-4333-8BE5-7C7C901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15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endParaRPr sz="1200" b="0">
              <a:solidFill>
                <a:srgbClr val="8891F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30008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EA112-332D-47FA-B35A-95F81CD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5662F6"/>
          </a:solidFill>
          <a:ln xmlns:a="http://schemas.openxmlformats.org/drawingml/2006/main" w="0">
            <a:solidFill>
              <a:srgbClr val="5662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9988F-A02B-4465-B0E8-4CF4742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4D1F2-3BC2-43C5-AF55-2A0D726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6902A-421B-4E34-AD07-396F8462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B4B7D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4B7D0"/>
                </a:solidFill>
                <a:latin typeface="Arial"/>
                <a:ea typeface="Arial"/>
                <a:cs typeface="Arial"/>
              </a:rPr>
              <a:t>模型函数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33801-3B7F-4A35-ADC1-6E2016C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模型函数与变量定义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FD772-7458-4CA5-A003-93C00F9C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4B7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4B7D0"/>
                </a:solidFill>
                <a:latin typeface="Arial"/>
                <a:ea typeface="Arial"/>
                <a:cs typeface="Arial"/>
              </a:rPr>
              <a:t>最终选择的 Ridge 线性模型（数值特征已标准化，类别变量已独热编码）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9A819-2E6D-4932-AC1B-4E0098CA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11633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71A3A"/>
          </a:solidFill>
          <a:ln xmlns:a="http://schemas.openxmlformats.org/drawingml/2006/main" w="9525">
            <a:solidFill>
              <a:srgbClr val="3842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B7806-C594-4992-AFF4-8A0457E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ŷ_raw = −220.13 + 191.99 z_hour + 6.29 z_month + 386.35 z_temperature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58EB5-A935-45FE-90E7-1CF24FA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−118.99 z_humidity − 71.85 z_rainfall + 0.66 z_snowfall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E37E7-F524-4DBD-88D4-AB23FD09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−91.44 I(Mon) − 97.33 I(Sat) − 163.79 I(Sun) − 47.13 I(Thu)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31710-1BC2-4406-9398-586005D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−50.85 I(Tue) − 35.10 I(Wed) + 156.92 I(No Holiday) + 839.90 I(Functioning=Yes)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618A0-7AC3-464F-8CB2-CC02B5DC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EE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EE88"/>
                </a:solidFill>
                <a:latin typeface="Arial"/>
                <a:ea typeface="Arial"/>
                <a:cs typeface="Arial"/>
              </a:rPr>
              <a:t>最终输出： ŷ = max(0, ŷ_raw)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4117E-5D73-4911-A16F-9834276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5F58"/>
          </a:solidFill>
          <a:ln xmlns:a="http://schemas.openxmlformats.org/drawingml/2006/main" w="9525">
            <a:solidFill>
              <a:srgbClr val="075F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CA0F7-1F35-4F38-AC2F-D5862A7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变量含义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5FD60-913B-4EC5-B363-80158A7A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E8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F7F3"/>
                </a:solidFill>
                <a:latin typeface="Arial"/>
                <a:ea typeface="Arial"/>
                <a:cs typeface="Arial"/>
              </a:rPr>
              <a:t>z_feature：数值特征标准化值</a:t>
            </a:r>
          </a:p>
          <a:p xmlns:a="http://schemas.openxmlformats.org/drawingml/2006/main">
            <a:pPr>
              <a:defRPr sz="900" b="0">
                <a:solidFill>
                  <a:srgbClr val="E8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F7F3"/>
                </a:solidFill>
                <a:latin typeface="Arial"/>
                <a:ea typeface="Arial"/>
                <a:cs typeface="Arial"/>
              </a:rPr>
              <a:t>        z = (x − 训练/验证均值) / 训练/验证标准差</a:t>
            </a:r>
          </a:p>
          <a:p xmlns:a="http://schemas.openxmlformats.org/drawingml/2006/main">
            <a:pPr>
              <a:defRPr sz="900" b="0">
                <a:solidFill>
                  <a:srgbClr val="E8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F7F3"/>
                </a:solidFill>
                <a:latin typeface="Arial"/>
                <a:ea typeface="Arial"/>
                <a:cs typeface="Arial"/>
              </a:rPr>
              <a:t>I(条件)：条件满足为 1，否则为 0</a:t>
            </a:r>
          </a:p>
          <a:p xmlns:a="http://schemas.openxmlformats.org/drawingml/2006/main">
            <a:pPr>
              <a:defRPr sz="900" b="0">
                <a:solidFill>
                  <a:srgbClr val="E8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F7F3"/>
                </a:solidFill>
                <a:latin typeface="Arial"/>
                <a:ea typeface="Arial"/>
                <a:cs typeface="Arial"/>
              </a:rPr>
              <a:t>ŷ：预测租车数量（辆 / 小时）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F37FE-CCFB-4420-B50C-B06BAAC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552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92E65"/>
          </a:solidFill>
          <a:ln xmlns:a="http://schemas.openxmlformats.org/drawingml/2006/main" w="9525">
            <a:solidFill>
              <a:srgbClr val="3941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75E87-C450-449F-B211-4D85310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本项目配置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D1DD0-077C-422C-94CB-300B880C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E8E9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E9FF"/>
                </a:solidFill>
                <a:latin typeface="Arial"/>
                <a:ea typeface="Arial"/>
                <a:cs typeface="Arial"/>
              </a:rPr>
              <a:t>Ridge 正则化：α = 0.1</a:t>
            </a:r>
          </a:p>
          <a:p xmlns:a="http://schemas.openxmlformats.org/drawingml/2006/main">
            <a:pPr>
              <a:defRPr sz="900" b="0">
                <a:solidFill>
                  <a:srgbClr val="E8E9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E9FF"/>
                </a:solidFill>
                <a:latin typeface="Arial"/>
                <a:ea typeface="Arial"/>
                <a:cs typeface="Arial"/>
              </a:rPr>
              <a:t>基准类别：星期五、Holiday、Functioning Day=No</a:t>
            </a:r>
          </a:p>
          <a:p xmlns:a="http://schemas.openxmlformats.org/drawingml/2006/main">
            <a:pPr>
              <a:defRPr sz="900" b="0">
                <a:solidFill>
                  <a:srgbClr val="E8E9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E9FF"/>
                </a:solidFill>
                <a:latin typeface="Arial"/>
                <a:ea typeface="Arial"/>
                <a:cs typeface="Arial"/>
              </a:rPr>
              <a:t>数据划分：64% 训练 / 16% 验证 / 20% 最终测试</a:t>
            </a:r>
          </a:p>
          <a:p xmlns:a="http://schemas.openxmlformats.org/drawingml/2006/main">
            <a:pPr>
              <a:defRPr sz="900" b="0">
                <a:solidFill>
                  <a:srgbClr val="E8E9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8E9FF"/>
                </a:solidFill>
                <a:latin typeface="Arial"/>
                <a:ea typeface="Arial"/>
                <a:cs typeface="Arial"/>
              </a:rPr>
              <a:t>temperature² 未入选（验证集选择了线性模型）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CC8C8-25A1-40B9-B825-ED2F504E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65"/>
          </a:solidFill>
          <a:ln xmlns:a="http://schemas.openxmlformats.org/drawingml/2006/main" w="0">
            <a:solidFill>
              <a:srgbClr val="3036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D89CB-2138-40EB-A07C-B2DCA79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B4B7D0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4B7D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3565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2026-09-29T05:48:25.4750000Z</dcterms:created>
  <dcterms:modified xsi:type="dcterms:W3CDTF">2026-09-29T05:48:25.4750000Z</dcterms:modified>
</coreProperties>
</file>