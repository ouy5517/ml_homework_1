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a5d6c89d554202" /><Relationship Type="http://schemas.openxmlformats.org/officeDocument/2006/relationships/extended-properties" Target="/docProps/app.xml" Id="R1d87a8d858664629" /><Relationship Type="http://schemas.openxmlformats.org/officeDocument/2006/relationships/officeDocument" Target="/ppt/presentation.xml" Id="R3bc5a2c0204545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adb8ed8384b6e"/>
  </p:sldMasterIdLst>
  <p:notesMasterIdLst>
    <p:notesMasterId xmlns:r="http://schemas.openxmlformats.org/officeDocument/2006/relationships" r:id="R09cf8887fdb94ba7"/>
  </p:notesMasterIdLst>
  <p:sldIdLst>
    <p:sldId xmlns:r="http://schemas.openxmlformats.org/officeDocument/2006/relationships" id="256" r:id="Rcffc4aa1d478483f"/>
    <p:sldId xmlns:r="http://schemas.openxmlformats.org/officeDocument/2006/relationships" id="257" r:id="Rfa4dd2a37cd34d28"/>
    <p:sldId xmlns:r="http://schemas.openxmlformats.org/officeDocument/2006/relationships" id="258" r:id="R240d4b2dc3fb4663"/>
    <p:sldId xmlns:r="http://schemas.openxmlformats.org/officeDocument/2006/relationships" id="259" r:id="Rc9cfecb6ca24468f"/>
    <p:sldId xmlns:r="http://schemas.openxmlformats.org/officeDocument/2006/relationships" id="260" r:id="Rcb28d28be5644436"/>
    <p:sldId xmlns:r="http://schemas.openxmlformats.org/officeDocument/2006/relationships" id="261" r:id="R06a393ccb4c9423d"/>
    <p:sldId xmlns:r="http://schemas.openxmlformats.org/officeDocument/2006/relationships" id="262" r:id="R153a54f66a3646b9"/>
    <p:sldId xmlns:r="http://schemas.openxmlformats.org/officeDocument/2006/relationships" id="263" r:id="Rdad4524d3cc94e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6c965c96c4f5e" /><Relationship Type="http://schemas.openxmlformats.org/officeDocument/2006/relationships/slideMaster" Target="/ppt/slideMasters/slideMaster1.xml" Id="Rde3adb8ed8384b6e" /><Relationship Type="http://schemas.openxmlformats.org/officeDocument/2006/relationships/notesMaster" Target="/ppt/notesMasters/notesMaster1.xml" Id="R09cf8887fdb94ba7" /><Relationship Type="http://schemas.openxmlformats.org/officeDocument/2006/relationships/presProps" Target="/ppt/presProps.xml" Id="Rb83529e7e9f84bcf" /><Relationship Type="http://schemas.openxmlformats.org/officeDocument/2006/relationships/tableStyles" Target="/ppt/tableStyles.xml" Id="Rfbf770a9d7ed4f47" /><Relationship Type="http://schemas.openxmlformats.org/officeDocument/2006/relationships/slide" Target="/ppt/slides/slide1.xml" Id="Rcffc4aa1d478483f" /><Relationship Type="http://schemas.openxmlformats.org/officeDocument/2006/relationships/slide" Target="/ppt/slides/slide2.xml" Id="Rfa4dd2a37cd34d28" /><Relationship Type="http://schemas.openxmlformats.org/officeDocument/2006/relationships/slide" Target="/ppt/slides/slide3.xml" Id="R240d4b2dc3fb4663" /><Relationship Type="http://schemas.openxmlformats.org/officeDocument/2006/relationships/slide" Target="/ppt/slides/slide4.xml" Id="Rc9cfecb6ca24468f" /><Relationship Type="http://schemas.openxmlformats.org/officeDocument/2006/relationships/slide" Target="/ppt/slides/slide5.xml" Id="Rcb28d28be5644436" /><Relationship Type="http://schemas.openxmlformats.org/officeDocument/2006/relationships/slide" Target="/ppt/slides/slide6.xml" Id="R06a393ccb4c9423d" /><Relationship Type="http://schemas.openxmlformats.org/officeDocument/2006/relationships/slide" Target="/ppt/slides/slide7.xml" Id="R153a54f66a3646b9" /><Relationship Type="http://schemas.openxmlformats.org/officeDocument/2006/relationships/slide" Target="/ppt/slides/slide8.xml" Id="Rdad4524d3cc9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f8e6285e61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62027ce71945a0" /><Relationship Type="http://schemas.openxmlformats.org/officeDocument/2006/relationships/notesMaster" Target="/ppt/notesMasters/notesMaster1.xml" Id="R45f0b34c2508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98b597160f4d39" /><Relationship Type="http://schemas.openxmlformats.org/officeDocument/2006/relationships/notesMaster" Target="/ppt/notesMasters/notesMaster1.xml" Id="Recf0a894a91a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f0fb4f2bfb41b0" /><Relationship Type="http://schemas.openxmlformats.org/officeDocument/2006/relationships/notesMaster" Target="/ppt/notesMasters/notesMaster1.xml" Id="Re82f572dd63944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0a3b775aa4073" /><Relationship Type="http://schemas.openxmlformats.org/officeDocument/2006/relationships/notesMaster" Target="/ppt/notesMasters/notesMaster1.xml" Id="R8f4a8a10be1244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fca95947640fa" /><Relationship Type="http://schemas.openxmlformats.org/officeDocument/2006/relationships/notesMaster" Target="/ppt/notesMasters/notesMaster1.xml" Id="R172a9d60f78a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ff7efb06441b2" /><Relationship Type="http://schemas.openxmlformats.org/officeDocument/2006/relationships/notesMaster" Target="/ppt/notesMasters/notesMaster1.xml" Id="R293f581444e84f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967dd19944090" /><Relationship Type="http://schemas.openxmlformats.org/officeDocument/2006/relationships/notesMaster" Target="/ppt/notesMasters/notesMaster1.xml" Id="Re771c6f423d64a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f6d8e238f04bee" /><Relationship Type="http://schemas.openxmlformats.org/officeDocument/2006/relationships/notesMaster" Target="/ppt/notesMasters/notesMaster1.xml" Id="Ra099a5f40d2c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开场：共享单车需求估计器。用户输入日期、小时和天气条件，网页返回预计租借量。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UCI Seoul Bike Sharing Demand，共 8,760 条逐小时记录。预测目标是每小时租借量。按时间顺序划分前 64% 训练、中间 16% 验证、最后 20% 测试。验证集选择特征和 alpha，最终测试集只用于最后评价。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数据按时间顺序分为 64% 训练、16% 验证和 20% 测试。前 64% 训练候选 Ridge 模型，验证集选择是否加入温度平方项和 alpha。确定方案后用前 80% 重新拟合完整 Pipeline，最后 20% 只评价一次。Flask 加载保存的 Pipeline 处理网页输入。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这是监督学习中的回归问题。Ridge 训练优化平方损失加 L2 正则化。候选 alpha 在验证集上选择，最终为 0.1。MAE 和 R² 是最终测试集的报告指标，不是训练时直接优化的目标。网页输入仍是原始单位，Pipeline 自动做相同的转换。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64% 共 5,606 条训练记录，中间 16% 共 1,402 条验证记录，最后 20% 共 1,752 条测试记录。验证集选择了不含温度平方项的 Ridge 模型，alpha 为 0.1。用前 80% 重新训练后，最终测试集 MAE 为 296.03 辆每小时，R² 为 0.485。两个时间块的指标不可直接当作模型改善幅度比较。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标准化后的数值系数表示增加一个训练集标准差时的预测变化，不能解释成每增加 1°C 的变化。运行日系数约 +839.90，温度约 +386.35，湿度约 -118.99。最大误差发生在 2018 年 10 月 1 日 18 点，实际 2,857，预测约 970。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现场演示使用日期 2026-09-22、17 点、温度 18°C、湿度 55%、无雨雪、非节假日、系统运行。新的模型文件在本地给出约 1,057 辆每小时。线上 Render 服务若尚未部署本次修改，仍可能返回旧模型结果。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按时间顺序切分，验证集选择模型后用前 80% 重训，最后 20% 只评价一次。最终测试集 MAE 为 296.03 辆每小时，R² 为 0.485。完整 Pipeline 保证离线评估与网页预测采用相同处理。当前结果适合课堂演示，跨城市或长期使用需要重新验证。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7bae91f1f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ecf281fc64056" /><Relationship Type="http://schemas.openxmlformats.org/officeDocument/2006/relationships/slideLayout" Target="/ppt/slideLayouts/slideLayout1.xml" Id="Re75d1bdd0248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d1bdd0248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39a3387d7438c" /><Relationship Type="http://schemas.openxmlformats.org/officeDocument/2006/relationships/notesSlide" Target="/ppt/notesSlides/notesSlide1.xml" Id="R3dc7baca55dc4f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26b78a77b487e" /><Relationship Type="http://schemas.openxmlformats.org/officeDocument/2006/relationships/notesSlide" Target="/ppt/notesSlides/notesSlide2.xml" Id="Rcb90a28baa3c48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2d7c4fbd14f74" /><Relationship Type="http://schemas.openxmlformats.org/officeDocument/2006/relationships/notesSlide" Target="/ppt/notesSlides/notesSlide3.xml" Id="R7007886d12cb46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31ab0d1f14e91" /><Relationship Type="http://schemas.openxmlformats.org/officeDocument/2006/relationships/notesSlide" Target="/ppt/notesSlides/notesSlide4.xml" Id="Rcc6c8d1fa342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3350579ba4910" /><Relationship Type="http://schemas.openxmlformats.org/officeDocument/2006/relationships/notesSlide" Target="/ppt/notesSlides/notesSlide5.xml" Id="Rd1e6512fa8204a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697a5075423e" /><Relationship Type="http://schemas.openxmlformats.org/officeDocument/2006/relationships/notesSlide" Target="/ppt/notesSlides/notesSlide6.xml" Id="R81f502e67c9c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58389df9e4451" /><Relationship Type="http://schemas.openxmlformats.org/officeDocument/2006/relationships/notesSlide" Target="/ppt/notesSlides/notesSlide7.xml" Id="Rcc8d87b7def0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db8ba00a4255" /><Relationship Type="http://schemas.openxmlformats.org/officeDocument/2006/relationships/notesSlide" Target="/ppt/notesSlides/notesSlide8.xml" Id="R8733fcf62fab4d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2E6B7-4803-46EB-8140-C6D97BD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9BBC4-B434-47E3-B43E-6455003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5C"/>
          </a:solidFill>
          <a:ln xmlns:a="http://schemas.openxmlformats.org/drawingml/2006/main" w="9525">
            <a:solidFill>
              <a:srgbClr val="2024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0D54-D537-47F7-91AE-59082D0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2B79"/>
          </a:solidFill>
          <a:ln xmlns:a="http://schemas.openxmlformats.org/drawingml/2006/main" w="9525">
            <a:solidFill>
              <a:srgbClr val="5A2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7B8C-ED54-40D1-997A-EF24A2D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6A08C-0356-473B-8058-7A4CC3F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4C904-EC36-4F86-946E-2B24C60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66DD9-01BE-43F4-82B1-C0C3D6A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4BA01-5E2C-4C7F-8FBF-22B0685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F51-44B7-416A-9EEC-CD120F67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第 15 组 · 回归模型项目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3854A-05F9-4819-8B52-3B73DA0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下一小时，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会有多少人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骑上单车？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856BF-4D2E-4915-AC29-EF10FB0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共享单车需求估计器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AF85-4B1B-4CBA-8043-C30A21E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输入时间与天气条件，让模型估计首尔共享单车每小时租借量。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EAF8B-F849-411B-A937-33FB335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04071-8CF5-4744-ADBC-B9352F6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逐小时记录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CFE4F-A2C7-4F1F-936D-A8CE1CBC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578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 / 16 /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D4A99-9F0C-4C62-8412-1C33B9D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150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时间顺序切分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FEDB3-BF94-47D4-B592-4956D1D8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57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5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 +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E5686-F1CC-450C-B05F-762D6C16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15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测试集评价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36EB6-6E2E-48FA-ABBD-96E073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4762500" cy="4095750"/>
          </a:xfrm>
          <a:prstGeom xmlns:a="http://schemas.openxmlformats.org/drawingml/2006/main" prst="roundRect">
            <a:avLst>
              <a:gd name="adj" fmla="val 6047"/>
            </a:avLst>
          </a:prstGeom>
          <a:solidFill xmlns:a="http://schemas.openxmlformats.org/drawingml/2006/main">
            <a:srgbClr val="191B40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97F2D-01A0-49B6-856A-775AA49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5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需求监测面板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3320-92DF-4631-93B1-A67E525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097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3A"/>
          </a:solidFill>
          <a:ln xmlns:a="http://schemas.openxmlformats.org/drawingml/2006/main" w="9525">
            <a:solidFill>
              <a:srgbClr val="173E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23FE8-C02F-4BC8-AE13-28D08C2D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28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●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4227D-DEA0-40AD-B057-EB0A02F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40025-F318-4F94-8D10-36EE649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1F1BA-0E3D-4C92-B718-39C2BD8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预计租借量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E0C0C-41E6-47A8-AD13-7444D471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13F5C-CC2C-4A43-A358-0C99E005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60FFB-C907-4049-BD58-716EB86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AAFBF-1F9D-436E-B9CD-BE3F8B6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较上小时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38B31-C48A-456B-931E-020544A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F68DC-BF64-4354-BAC8-3D7EBD7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晚高峰上升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EFEE4-AB86-43E3-B91E-1D5EE89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06:00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B1CEC-33C4-43BE-A676-B97B6E1C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12:00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485B2-8CCB-4DE2-89DB-2D590D5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18:00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2CA66-5C49-4FE0-B861-0CA7B09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23:00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872ECA-98F4-4548-A03E-5EDCA7A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190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C5B3A-CF22-47A0-8CC6-90F52AC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190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A12B8-9C44-4B18-B5B2-14626DB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190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D6CDF6-FAF5-430D-905A-25F69EA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190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69898-1A60-4712-B13C-9882149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1905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9A63BF-B48E-4CB8-B890-35FCB651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62400"/>
            <a:ext cx="1905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C6599-4DDF-4531-819D-AD654AD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71950"/>
            <a:ext cx="19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</p:spTree>
    <p:extLst>
      <p:ext uri="{BB962C8B-B14F-4D97-AF65-F5344CB8AC3E}">
        <p14:creationId xmlns:p14="http://schemas.microsoft.com/office/powerpoint/2010/main" val="1699530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AEC9F-5832-43DF-A890-9B49326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6C697-E7A4-46FD-8B69-3530C46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24C1B-9731-4BE6-B0C7-A1F81A8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561B4-A292-472C-9477-BF25400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E9DC-6C71-4E15-A250-2764621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3414-3C55-4F89-8499-829DB39A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E0F97-F4D6-4168-BF32-6F07DC61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41672-E943-4E0C-9F1B-41DE34D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先定义可预测的目标，再说明每个输入在什么时候可获得。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E0E69-AAEE-4089-BA0A-4FC00EA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C6E82-C372-4635-9D94-FE3F48A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目标变量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3DCD-E124-429D-B895-8DF18E9E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Rented Bike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88592-EB2D-41AD-B4EE-9EA7FB1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每小时租借量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单位：辆 /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7DED4-C6C5-48DD-B35D-C70BAA9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EF907-308A-4ECE-A28F-1ADCA64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连续数值 → 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9BE03-E048-4266-851F-9FDAAF2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33425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C342E-684F-484B-A63D-14D242E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UCI Seoul Bike Sharing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142D4-8CFB-480D-8D63-1146A01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8,760 条逐小时记录 · 2017-12 至 2018-11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D0B71-1F14-44BB-9D71-76D768A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908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9CF59-320C-4668-B85C-6525655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70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C1FCD-0E84-42A7-89F0-5CCB46F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日期 · 小时 · 星期 · 月份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C7F29-7740-457C-A9AF-71D1E51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B0E9D-6DBD-4A50-96C4-7176168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ED34A-F84D-4894-9B29-53F60A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19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温度 · 湿度 · 降雨 · 降雪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3BE9B-04B5-41B9-A41E-B698708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719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3E6AA-DC1B-4FB9-B59C-2802FE76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0C205-88B8-4A7D-9C93-74787EA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节假日 · 系统是否运行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3E84C-8256-4D8B-B17E-C531F3F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6324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FF55CE-9F7E-43FE-9F68-71DF8F1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40481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80EC0-B6CA-4311-A6BC-53F347C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91100"/>
            <a:ext cx="22764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5274C-A439-4F14-87A3-BC4598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57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64% 训练集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1C3B9-A287-49D9-B908-9555EEB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57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16% 验证 + 20% 测试</a:t>
            </a:r>
          </a:p>
        </p:txBody>
      </p:sp>
    </p:spTree>
    <p:extLst>
      <p:ext uri="{BB962C8B-B14F-4D97-AF65-F5344CB8AC3E}">
        <p14:creationId xmlns:p14="http://schemas.microsoft.com/office/powerpoint/2010/main" val="1755641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814431-0004-4EE0-8A9E-C6FDDE1A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37A38-4505-4D5E-A971-C63AB7D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AABE-BA61-41E4-BCD1-AA4E0FF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C83E7-0499-49D6-9DBE-3366D5B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DF2AE-8848-489C-860F-C571D91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A0F7-9B9B-435C-8E78-7CF63CE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7D49-4752-401F-BCD1-DB9439E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9CE9-6A63-41F4-8EC5-408F70D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网页与离线评估复用同一条 Pipeline，避免处理步骤不一致。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34A4-48B4-4F44-8C16-E36964C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33909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2925-CA6B-4DCB-BE53-794DD358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7BD52-CCCA-450A-B953-1A7BAA3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C6793-BBFF-4B89-ACFD-BD2CE956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233D-BDBA-4B04-A32F-3DBC9CF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 / 天气 / 运营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A25BD-D49D-476E-8A3E-208F51C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6BC39-7EBF-40A7-8FD8-C2812ED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76F2B-6437-444D-9A09-EE363DB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8801B-776D-4C8E-B347-E4A4B77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F0116-A588-4981-9CE4-EFCC333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填补 · 编码 · 标准化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0E35B-FCA0-41E4-B479-7689A5A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6A5F9-E241-4048-93AA-94B3E94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4AB1D-420B-4A70-8480-DEB9F24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ADF8A-DA36-43B2-A388-AC555BE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Ridge 回归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6AE7C-06E9-4725-9B02-8ACB8F9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学习连续租借量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803B2-9A42-4A9E-B2DB-5B4B836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BD73F-D73B-496F-8EE0-E9518F6C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32545-8057-4DC4-AAE8-C8500EA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EEFC4-AB95-4924-B622-F8CD69E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5AD12-6B97-4330-BC12-00A7D53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网页返回预测值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2B45B-4B67-4441-990A-F6301EC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50ED1-5314-4A22-AD99-86C2D1C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64% 训练候选模型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F29AA-1566-4547-8866-344D530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42538-59C3-407E-9348-0E72CA2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16% 验证选择方案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B7989-0BC8-4D74-A964-45EAC1A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2190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BBD52-3D24-4695-908D-8B9FB96E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910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前 80% 重训并保存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46627-450F-4527-B3A0-EE54027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特征候选：线性 / temperature²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7AA9D-1E46-4AC5-8862-BCAB9E7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选择：Ridge(alpha = 0.1)</a:t>
            </a:r>
          </a:p>
        </p:txBody>
      </p:sp>
    </p:spTree>
    <p:extLst>
      <p:ext uri="{BB962C8B-B14F-4D97-AF65-F5344CB8AC3E}">
        <p14:creationId xmlns:p14="http://schemas.microsoft.com/office/powerpoint/2010/main" val="584815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53FB6-1742-45F3-9528-83B039F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E995-1CA3-4686-84F3-D88FCF8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3DEE-F7BA-4E96-BEFB-97481FA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B99CA-E1C3-4D0F-9DF0-2E8CC4CF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模型原理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F725C-91C4-4B12-BE19-A60A889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4C0F5-3044-4A60-B539-5481AA0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FF38E-83FF-46B5-8CC5-6C46A55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模型原理：Ridge 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D4B5-8C14-4D58-BAB5-A2B183C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平方损失负责拟合，L2 正则化负责控制系数规模。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2092-708D-44D6-915D-6DF370E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6675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726F6-724D-4FE8-9D55-8041C54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066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5F678-8AEC-4490-831D-9A0EEF2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目标函数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12716-346D-43A5-B9A4-828ADA4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L(w,b) = (1 / 2n) ||y − Xw − b||₂² + α||w||₂²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CB3C1-E618-4E5A-801D-3FF480B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第一项：平方损失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EAEDA-8B5B-41B5-A344-12433B2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预测偏差越大，惩罚按平方增长。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44D6C-11D3-4D7D-8589-E6CAA40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第二项：L2 正则化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4BB26-5509-407B-8145-138600E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把过大的系数拉向 0，减小过拟合。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868E2-D45B-4F6F-A36D-FFF73BF8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41148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489B"/>
          </a:solidFill>
          <a:ln xmlns:a="http://schemas.openxmlformats.org/drawingml/2006/main" w="9525">
            <a:solidFill>
              <a:srgbClr val="17489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33E10-06B4-42BE-B47F-5DB8E9A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代码里的对应关系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9D8A5-6262-48BF-9C46-2DA61E8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Ridge(alpha=0.1)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E089B-BDCC-48F9-81B8-18402E2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161B7-223C-4AF3-AABA-AC1948B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6546B-852A-4F5E-9931-E08E0AD6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StandardScaler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22512-1023-4090-81F4-FF6145D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90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统一数值尺度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283D0-2BE2-455E-AC4A-B9F2B4CC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0C072-834C-4DFF-ADCB-0BCC20A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OneHotEncoder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520FE-7622-45C1-A6E9-D605A28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类别转 0/1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41BF2-58D9-4C0B-8D44-E3B4F0B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9572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3F402-DC0B-4F77-97A6-E24B3EF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mean_absolute_error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CE05A-688B-4ABF-BB59-75C6A4D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00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MAE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B38B-6FEC-4065-805D-A4A0882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23886-9EAF-43BA-AD78-3FD0AAC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r2_score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D3DE89-CD30-4F77-8CA7-E314BA5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9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R²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6746E-2DD1-4AB7-8D05-848BFB1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报告指标：MAE = 平均相差多少辆；R² = 相对均值基线的改进。</a:t>
            </a:r>
          </a:p>
        </p:txBody>
      </p:sp>
    </p:spTree>
    <p:extLst>
      <p:ext uri="{BB962C8B-B14F-4D97-AF65-F5344CB8AC3E}">
        <p14:creationId xmlns:p14="http://schemas.microsoft.com/office/powerpoint/2010/main" val="823822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85AAA-DF33-4228-9C22-3E6FB1F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A104F-EDF9-4FD0-A02B-F7A593C3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702A1-EBE7-4AC2-AEEA-50C919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BECCA-9E5F-4BCC-8763-D5F2361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07A02-BE29-4502-B47C-DC3D765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437A-F6EF-4CFD-80F0-530B33C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41D0F-1344-4A53-B1E6-9C01686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测试集结果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CC53-06B3-4298-A52A-52E82A7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验证集选择线性特征，最终测试只评价一次。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C2AEB-2A9A-4544-A838-63372B2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344805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4DF05-C862-4277-84F4-472CCDBF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296.03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22ADA-4AFA-4E6A-885C-6F966CB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MAE · 辆 / 小时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1FF88-D16E-4527-822F-38900A8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0.485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3709B-531F-43DE-AB0E-52736AF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R² · 测试集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468B6-BCF5-4750-B253-3E0CE8A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8FEF1-9B55-4416-8968-F29E390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验证集选择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339A7-15CA-4DBE-9C9F-628D82D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验证 MAE 520.58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AEC1D-0F2A-4C71-AC63-BBB5157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验证 R² 0.035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F2E33-C58E-4675-A7CF-3385B23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7391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2B8C4-3B41-41F0-B706-75AE1E9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选择与测试（不同时间块）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0A9B2-258B-444A-9C46-8BF1151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验证集方案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52A9C-F882-4B71-AF36-2E156E93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706A-F2DD-41EB-87BB-1B9DB1D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9AAB5"/>
          </a:solidFill>
          <a:ln xmlns:a="http://schemas.openxmlformats.org/drawingml/2006/main" w="9525">
            <a:solidFill>
              <a:srgbClr val="99AAB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19946-92CD-4809-838F-10122E34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520.58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714DC-C99C-4B29-87E0-5A8D6DCD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最终测试方案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727E7-5C18-4FCC-8642-7DE77EE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956F1-EC11-4A61-929F-44DA568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1A6F5-AA12-4423-A43C-25D08DB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296.03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2F64B-E6A6-42C7-90F2-EDEEDA3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76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测试集：最后 20% · 1,752 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47E6D-71CD-472A-8C18-DFB9F92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476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DA269-B4E5-4C12-8625-A7F333A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散点图与误差样本见 reports/</a:t>
            </a:r>
          </a:p>
        </p:txBody>
      </p:sp>
    </p:spTree>
    <p:extLst>
      <p:ext uri="{BB962C8B-B14F-4D97-AF65-F5344CB8AC3E}">
        <p14:creationId xmlns:p14="http://schemas.microsoft.com/office/powerpoint/2010/main" val="8879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9F5DD-1021-441D-B1E2-045EF5B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537DD-4DA8-46F5-88D5-A36E68B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72DAE-AA9B-4669-B88C-7FBB7B12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3C6C0-E32B-473A-8707-A3177BB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解释与误差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A430E-51D2-4DE9-A88C-B80249B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F126-29CE-471F-BD73-467B1AB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3F24F-1FB4-4DF5-B0B3-C6DC78C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模型解释与最大误差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062D7-D5D1-4918-AE84-FF1C592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系数说明条件相关性，误差样本说明模型还缺少哪些信息。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452DA-BB36-4E48-BCB2-D67FF4E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286375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5E54"/>
          </a:solidFill>
          <a:ln xmlns:a="http://schemas.openxmlformats.org/drawingml/2006/main" w="9525">
            <a:solidFill>
              <a:srgbClr val="075E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ED721-13B8-4FF7-AEC1-BB8FF5D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系数（前几项）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F3924-CA0C-4C42-BFF8-2DE39A3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运行日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36CF3-BE37-4644-92FA-80D21D5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48F68-E27C-48CD-ABC7-437A599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0478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7EC9D-20B8-4F86-9868-7E35E55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+839.90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3073D-BF80-4273-A475-641E2D4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温度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AAF98-F40C-497E-8FD9-4B420F5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82E5D-BABB-4B47-BBF9-50F3932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9429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CC5F-91E3-42B1-A597-104180B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+386.35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8CAAB-16D9-474E-BDBF-F26AA2A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1F105-1B8D-497C-8EE9-693D0E7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814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FFA99-EF28-474B-AD8A-4804316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466189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9B298-A811-4F27-8BB2-DA69FF8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F3B7D-FE0B-4AD0-A116-9DBEC62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湿度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8F1FE-1397-4279-83C7-F6197D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7F769-95F3-4433-9E7F-79209AF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2857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50764-C9AD-4643-80E2-F4E768D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-118.99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19452-3515-4F16-8CAA-5E8A7DB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数值特征已标准化，系数表示增加一个标准差的影响。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E739E-EAE8-4984-BF03-F12412A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550545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670DA-FDFB-4737-95D6-F3A68E7E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4DA7D-0499-4D93-AFA7-59785B53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776D5-1848-4985-8D9B-999B973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2018-10-01 · 18:00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46CD9-597F-41C4-8789-4762463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实际 2,857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2AE7F-0A97-462E-A596-23B3186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F91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91AC"/>
                </a:solidFill>
                <a:latin typeface="Microsoft YaHei"/>
                <a:ea typeface="Microsoft YaHei"/>
                <a:cs typeface="Microsoft YaHei"/>
              </a:rPr>
              <a:t>预测 970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87FD2-B3D5-4A95-B498-80ECFC0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9A55F-0C39-4490-B41F-A14CCDE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绝对误差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46D6B-C3AF-4057-9BEE-9ADBF3E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1,887 辆 / 小时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CB93CB-7754-4427-BA87-C9BF4770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当前输入没有活动、库存、站点分布和交通状态，模型难以识别异常高峰。</a:t>
            </a:r>
          </a:p>
        </p:txBody>
      </p:sp>
    </p:spTree>
    <p:extLst>
      <p:ext uri="{BB962C8B-B14F-4D97-AF65-F5344CB8AC3E}">
        <p14:creationId xmlns:p14="http://schemas.microsoft.com/office/powerpoint/2010/main" val="133165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BBF36-C5A7-46A7-9560-62EAF36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35A90-9ED2-4B3A-BF5A-B3E5652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34E4-0B5B-449A-9546-C4D317B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1B07B-EDBF-4DD9-9883-E52F70E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E35E8-299C-4E94-A359-C6D5C1B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2AA16-8A06-48C3-8087-0AAB05F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D7BAB-DFCA-4B9E-BE19-C359453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网页与后端调用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79724-F2FD-4E03-A4B9-3C3B454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用户提交原始字段，Flask 调用启动时加载的完整 Pipeline。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AA17-5A6C-4A6D-B112-1F8C616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8580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1752F-DF00-420E-BE29-0EFEE13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本地新模型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E7A46-A61F-4D13-A336-D1449EC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输入条件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42FD9-5D05-4E44-848D-11E2CA0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C5251-A343-4E1F-9FFF-D1643B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E3B2D-E94E-49A5-A954-1F1E5BE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2026-09-22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7DC15-CDB2-40B2-91E9-FAC7594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12D54-E734-4E09-97F6-A3AF21E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FAE61-095A-43A9-945F-0D1234A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60AA5-3BF9-4EDF-8C62-B41561F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温度 / 湿度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09865-5AE5-4087-99C1-DA7A523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25C08-E6A6-4B4A-B47A-20A2247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18°C  /  55%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32C5E-372C-4E97-9309-6C1E935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降雨 / 降雪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62E98-2B1E-4A5E-90E2-21B61B5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05C0E-82F5-4C73-AA8F-1E99609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mm  /  0 cm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41F80-93B5-4EC2-816D-939D8586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56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B6076-263B-4B60-AAF0-07E9AC04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估计租借需求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7FF4D-62E3-4BBF-B81B-11757B0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27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86E87-427A-4E65-88F6-C1E53AD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9433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47931-5E05-4022-9273-F69232D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DA8CA-FE95-4B6E-A6FC-BC4192D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71A30-492C-4F96-B356-2C6E5B6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1,057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CB21CF-EF8A-4A20-86D3-D5CD2FF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9F7E3-0998-41A1-8E78-87D142E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6F5"/>
          </a:solidFill>
          <a:ln xmlns:a="http://schemas.openxmlformats.org/drawingml/2006/main" w="9525">
            <a:solidFill>
              <a:srgbClr val="7E86F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CDF93C-EED0-42DA-9213-C9D8DFA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模型状态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1FE51-080A-48E9-A4A4-A420561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joblib Pipeline loaded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E7997-8462-48D9-BBCB-6165F2F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ridecast-ml-homework-1.onrender.com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A1EEE-9B21-4F74-AE74-2E78BB15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429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89E90-7B29-44D6-A6FD-DE136D5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436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POST JSON → predict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721248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CA044-7749-401A-92F4-03E144C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46F1B-97BF-40A4-ACA4-FD72950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D2D57-5C93-48EC-960B-8CFEB4D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90F6-1C06-421B-A0F8-7236002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2F81-42DF-4D54-B650-9CB2E7A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AAA18-A192-4359-8DB1-2F92383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F4851-4E6F-40C9-A669-8C9C6D43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EB625-BBE8-4A19-AA2A-B5B19D8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当前结果适合课堂演示和相近条件下的小时级估计。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ED50E-72C0-4F2C-AF53-668984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495300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4AB3-456D-442A-891E-320D0D6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530A4-4C45-465A-AAB1-57A7CF2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本次完成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C7FDD-6726-46D4-96CE-7B336E57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3819F-4786-49EB-8E94-7437680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模型：Ridge, alpha=0.1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B7315-6B53-452A-A234-CF96777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B8ACC-D72E-42AD-89F3-ECDC6F3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评价：MAE 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296.03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· R² </a:t>
            </a: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0.485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AB98-AB2C-4680-8328-B13F2F5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9FEC4-E037-434D-8608-44ADEC5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工程：Pipeline + Flask + 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1D287-A56B-4EBB-A40F-A7497C0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77215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BE2A9-749E-43D1-BF65-49F04A6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1333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00223-7354-4AE6-A655-7194381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局限与下一步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C3109-6978-4A27-ABE2-EDA0A34A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33238-DC12-4F1D-A0D6-7529A22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只有首尔数据，跨城市需要重新训练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5CD84-4107-428E-BB68-94DD57E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D44E1-A81F-473F-B110-31C545C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缺少活动、库存、站点与交通状态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50672-0135-419C-9320-0CD53CB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CA714-9ADE-4386-ADB3-438E63D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极端天气属于外推，需更多实时特征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F11B6-F1C5-4235-95D3-C05B345F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B97ED-0009-4A19-88CB-946FEDB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下一步：滚动历史需求 + 交叉验证比较树模型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864AE-C70F-43D9-8B99-CEBCE122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89C69-1FA2-4333-8BE5-7C7C901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15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欢迎提问：为什么 Ridge？损失函数是什么？最大误差为什么大？</a:t>
            </a:r>
          </a:p>
        </p:txBody>
      </p:sp>
    </p:spTree>
    <p:extLst>
      <p:ext uri="{BB962C8B-B14F-4D97-AF65-F5344CB8AC3E}">
        <p14:creationId xmlns:p14="http://schemas.microsoft.com/office/powerpoint/2010/main" val="1730008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2026-09-28T05:51:05.6850000Z</dcterms:created>
  <dcterms:modified xsi:type="dcterms:W3CDTF">2026-09-28T05:51:05.6850000Z</dcterms:modified>
</coreProperties>
</file>