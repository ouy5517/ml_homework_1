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2d288059147b9" /><Relationship Type="http://schemas.openxmlformats.org/officeDocument/2006/relationships/extended-properties" Target="/docProps/app.xml" Id="R294c0fd21f0e49e7" /><Relationship Type="http://schemas.openxmlformats.org/officeDocument/2006/relationships/officeDocument" Target="/ppt/presentation.xml" Id="Rcb7716bf211246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a1ffd3aaf54062"/>
  </p:sldMasterIdLst>
  <p:notesMasterIdLst>
    <p:notesMasterId xmlns:r="http://schemas.openxmlformats.org/officeDocument/2006/relationships" r:id="R0558d406166849bc"/>
  </p:notesMasterIdLst>
  <p:sldIdLst>
    <p:sldId xmlns:r="http://schemas.openxmlformats.org/officeDocument/2006/relationships" id="256" r:id="R6aa51ea4b7614466"/>
    <p:sldId xmlns:r="http://schemas.openxmlformats.org/officeDocument/2006/relationships" id="257" r:id="Re6a767f653774fd8"/>
    <p:sldId xmlns:r="http://schemas.openxmlformats.org/officeDocument/2006/relationships" id="258" r:id="Ra26267ed498a40fb"/>
    <p:sldId xmlns:r="http://schemas.openxmlformats.org/officeDocument/2006/relationships" id="259" r:id="R0c43c45dcac64aa7"/>
    <p:sldId xmlns:r="http://schemas.openxmlformats.org/officeDocument/2006/relationships" id="260" r:id="R0fa1ce0a908f49de"/>
    <p:sldId xmlns:r="http://schemas.openxmlformats.org/officeDocument/2006/relationships" id="261" r:id="R69d757937ce64647"/>
    <p:sldId xmlns:r="http://schemas.openxmlformats.org/officeDocument/2006/relationships" id="262" r:id="Rc82c702f66a5494b"/>
    <p:sldId xmlns:r="http://schemas.openxmlformats.org/officeDocument/2006/relationships" id="263" r:id="R8d1719ed8bf447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3da4bdad0474a" /><Relationship Type="http://schemas.openxmlformats.org/officeDocument/2006/relationships/slideMaster" Target="/ppt/slideMasters/slideMaster1.xml" Id="Rf1a1ffd3aaf54062" /><Relationship Type="http://schemas.openxmlformats.org/officeDocument/2006/relationships/notesMaster" Target="/ppt/notesMasters/notesMaster1.xml" Id="R0558d406166849bc" /><Relationship Type="http://schemas.openxmlformats.org/officeDocument/2006/relationships/presProps" Target="/ppt/presProps.xml" Id="R4f332ee03bfd4fbe" /><Relationship Type="http://schemas.openxmlformats.org/officeDocument/2006/relationships/tableStyles" Target="/ppt/tableStyles.xml" Id="R68aab9a555874019" /><Relationship Type="http://schemas.openxmlformats.org/officeDocument/2006/relationships/slide" Target="/ppt/slides/slide1.xml" Id="R6aa51ea4b7614466" /><Relationship Type="http://schemas.openxmlformats.org/officeDocument/2006/relationships/slide" Target="/ppt/slides/slide2.xml" Id="Re6a767f653774fd8" /><Relationship Type="http://schemas.openxmlformats.org/officeDocument/2006/relationships/slide" Target="/ppt/slides/slide3.xml" Id="Ra26267ed498a40fb" /><Relationship Type="http://schemas.openxmlformats.org/officeDocument/2006/relationships/slide" Target="/ppt/slides/slide4.xml" Id="R0c43c45dcac64aa7" /><Relationship Type="http://schemas.openxmlformats.org/officeDocument/2006/relationships/slide" Target="/ppt/slides/slide5.xml" Id="R0fa1ce0a908f49de" /><Relationship Type="http://schemas.openxmlformats.org/officeDocument/2006/relationships/slide" Target="/ppt/slides/slide6.xml" Id="R69d757937ce64647" /><Relationship Type="http://schemas.openxmlformats.org/officeDocument/2006/relationships/slide" Target="/ppt/slides/slide7.xml" Id="Rc82c702f66a5494b" /><Relationship Type="http://schemas.openxmlformats.org/officeDocument/2006/relationships/slide" Target="/ppt/slides/slide8.xml" Id="R8d1719ed8bf4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2ba52efb64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a32a57b43e487b" /><Relationship Type="http://schemas.openxmlformats.org/officeDocument/2006/relationships/notesMaster" Target="/ppt/notesMasters/notesMaster1.xml" Id="R1e00bdfb27284e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888a6f4ec4dd7" /><Relationship Type="http://schemas.openxmlformats.org/officeDocument/2006/relationships/notesMaster" Target="/ppt/notesMasters/notesMaster1.xml" Id="R31bcb2d03b9e4f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f88e3a1f9c4580" /><Relationship Type="http://schemas.openxmlformats.org/officeDocument/2006/relationships/notesMaster" Target="/ppt/notesMasters/notesMaster1.xml" Id="Rf4f7d7cb5758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e47e3747264ec8" /><Relationship Type="http://schemas.openxmlformats.org/officeDocument/2006/relationships/notesMaster" Target="/ppt/notesMasters/notesMaster1.xml" Id="R48881105add6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166eaec8a44e6d" /><Relationship Type="http://schemas.openxmlformats.org/officeDocument/2006/relationships/notesMaster" Target="/ppt/notesMasters/notesMaster1.xml" Id="R59f1c2de0a8e4f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bd0bca9d2c407a" /><Relationship Type="http://schemas.openxmlformats.org/officeDocument/2006/relationships/notesMaster" Target="/ppt/notesMasters/notesMaster1.xml" Id="Reb99f1eb8a7448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e7c419ce034b69" /><Relationship Type="http://schemas.openxmlformats.org/officeDocument/2006/relationships/notesMaster" Target="/ppt/notesMasters/notesMaster1.xml" Id="Ree83b40a80b241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a667d0cf7b435a" /><Relationship Type="http://schemas.openxmlformats.org/officeDocument/2006/relationships/notesMaster" Target="/ppt/notesMasters/notesMaster1.xml" Id="R30bb3d2bedaf4b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开场：我们做的是一个共享单车需求估计器。用户输入日期、小时和天气条件，网页返回预计租借量。整套项目包括数据处理、模型训练、测试评价和 Flask 在线调用。展示总时长约 5 分钟。</a:t>
            </a:r>
          </a:p>
          <a:p xmlns:a="http://schemas.openxmlformats.org/drawingml/2006/main">
            <a:r>
              <a:t>视觉参考网页：首页的深色背景、紫色强调色、预测监测面板和 LIVE 状态标签。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UCI Seoul Bike Sharing Demand，共 8,760 条逐小时记录。预测目标是每小时租借量，输入分为时间、天气和运营状态三组。我们按时间顺序取前 80% 做训练，后 20% 做测试，模拟用过去预测未来的上线场景。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流程从 CSV 开始。日期解析后派生星期、月份和温度平方项。数值变量用中位数填补并标准化，类别变量用众数填补并 one-hot 编码。最后用 Ridge 回归，保存完整 Pipeline，Flask 启动时加载，网页请求直接复用。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这是监督学习中的回归问题。Ridge 训练优化的是平方损失加 L2 正则化。平方损失对大误差更敏感，L2 可以减小 one-hot 特征和温度、温度平方项相关带来的系数波动。MAE 和 R² 是测试集报告指标，不等于 Ridge 训练时直接优化的目标。网页输入仍是原始单位，Pipeline 自动做同样的转换。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最终测试集共有 1,752 条记录。RideCast 的 MAE 是 292.86 辆/小时，R² 是 0.509。相比不含温度二次项的基线，MAE 下降 10.34，R² 提升 0.035。结果说明本次固定时间切分中，温度二次项有一定帮助，但还不能说明对所有数据都普遍更好。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标准化后的数值系数要解释为增加一个训练集标准差时的平均影响，不能说温度每增加 1°C 就增加 457 辆。运行日的系数约为 +765，说明系统运行与否的差异很大。最大误差出现在 2018-10-01 18:00，实际 2,857，预测约 1,010。原因是当前特征没有包含活动、库存、站点分布和交通状态。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现场演示打开 Render 线上应用，使用日期 2026-09-22、17 点、温度 18°C、湿度 55%、无雨雪、非节假日、系统运行，后端返回约 1,095 辆/小时。网页提交原始输入，Flask 端再次校验范围，调用启动时加载的 joblib Pipeline。输入缺失或越界时，前后端都会提示。线上地址： https://ridecast-ml-homework-1.onrender.com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总结：当前模型在时间后 20% 测试集上达到 MAE 292.86、R² 0.509；完整 Pipeline 保证训练与线上预测一致；模型仍受数据范围和特征数量限制。下一步可以加入滚动历史需求、活动和库存信息，并用训练集内部交叉验证比较随机森林或梯度提升模型。</a:t>
            </a:r>
          </a:p>
          <a:p xmlns:a="http://schemas.openxmlformats.org/drawingml/2006/main">
            <a:r>
              <a:t>常见问答见项目中的 PRESENTATION.md。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1d392658f4b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ef024840d4c50" /><Relationship Type="http://schemas.openxmlformats.org/officeDocument/2006/relationships/slideLayout" Target="/ppt/slideLayouts/slideLayout1.xml" Id="Rb9160e90a09640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60e90a09640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cda13b53e4b90" /><Relationship Type="http://schemas.openxmlformats.org/officeDocument/2006/relationships/notesSlide" Target="/ppt/notesSlides/notesSlide1.xml" Id="Re289d8b83f434e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459d93374d44" /><Relationship Type="http://schemas.openxmlformats.org/officeDocument/2006/relationships/notesSlide" Target="/ppt/notesSlides/notesSlide2.xml" Id="R9b6e0e9e10b0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48419b549149cc" /><Relationship Type="http://schemas.openxmlformats.org/officeDocument/2006/relationships/notesSlide" Target="/ppt/notesSlides/notesSlide3.xml" Id="R43239982043e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30b5716747ca" /><Relationship Type="http://schemas.openxmlformats.org/officeDocument/2006/relationships/notesSlide" Target="/ppt/notesSlides/notesSlide4.xml" Id="R306a0d0234a54f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e855738824c30" /><Relationship Type="http://schemas.openxmlformats.org/officeDocument/2006/relationships/notesSlide" Target="/ppt/notesSlides/notesSlide5.xml" Id="R0085972ff92a48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481293cd04693" /><Relationship Type="http://schemas.openxmlformats.org/officeDocument/2006/relationships/notesSlide" Target="/ppt/notesSlides/notesSlide6.xml" Id="Ra569c544ff7b44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07333b59b45a4" /><Relationship Type="http://schemas.openxmlformats.org/officeDocument/2006/relationships/notesSlide" Target="/ppt/notesSlides/notesSlide7.xml" Id="R2c2b638581db43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fb02cea67468d" /><Relationship Type="http://schemas.openxmlformats.org/officeDocument/2006/relationships/notesSlide" Target="/ppt/notesSlides/notesSlide8.xml" Id="R49412b7b9b9b4e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62E6B7-4803-46EB-8140-C6D97BD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9BBC4-B434-47E3-B43E-6455003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"/>
            <a:ext cx="2571750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5C"/>
          </a:solidFill>
          <a:ln xmlns:a="http://schemas.openxmlformats.org/drawingml/2006/main" w="9525">
            <a:solidFill>
              <a:srgbClr val="20245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0D54-D537-47F7-91AE-59082D07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577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A2B79"/>
          </a:solidFill>
          <a:ln xmlns:a="http://schemas.openxmlformats.org/drawingml/2006/main" w="9525">
            <a:solidFill>
              <a:srgbClr val="5A2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87B8C-ED54-40D1-997A-EF24A2D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"/>
            <a:ext cx="6096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6A08C-0356-473B-8058-7A4CC3F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4C904-EC36-4F86-946E-2B24C60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66DD9-01BE-43F4-82B1-C0C3D6A4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6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4BA01-5E2C-4C7F-8FBF-22B0685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809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31F51-44B7-416A-9EEC-CD120F67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第 15 组 · 回归模型项目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3854A-05F9-4819-8B52-3B73DA0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下一小时，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会有多少人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骑上单车？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856BF-4D2E-4915-AC29-EF10FB0F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共享单车需求估计器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AF85-4B1B-4CBA-8043-C30A21E0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输入时间与天气条件，让模型估计首尔共享单车每小时租借量。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EAF8B-F849-411B-A937-33FB3351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8,760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104071-8CF5-4744-ADBC-B9352F60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逐小时记录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CFE4F-A2C7-4F1F-936D-A8CE1CBC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5785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 /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ED4A99-9F0C-4C62-8412-1C33B9D1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15050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时间顺序切分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FEDB3-BF94-47D4-B592-4956D1D8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578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534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 +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E5686-F1CC-450C-B05F-762D6C16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150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测试集评价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236EB6-6E2E-48FA-ABBD-96E0736D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19200"/>
            <a:ext cx="4762500" cy="4095750"/>
          </a:xfrm>
          <a:prstGeom xmlns:a="http://schemas.openxmlformats.org/drawingml/2006/main" prst="roundRect">
            <a:avLst>
              <a:gd name="adj" fmla="val 6047"/>
            </a:avLst>
          </a:prstGeom>
          <a:solidFill xmlns:a="http://schemas.openxmlformats.org/drawingml/2006/main">
            <a:srgbClr val="191B40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97F2D-01A0-49B6-856A-775AA49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573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需求监测面板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43320-92DF-4631-93B1-A67E525C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40970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E3A"/>
          </a:solidFill>
          <a:ln xmlns:a="http://schemas.openxmlformats.org/drawingml/2006/main" w="9525">
            <a:solidFill>
              <a:srgbClr val="173E3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F23FE8-C02F-4BC8-AE13-28D08C2D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428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● LIVE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4227D-DEA0-40AD-B057-EB0A02FF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47850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40025-F318-4F94-8D10-36EE649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1F1BA-0E3D-4C92-B718-39C2BD80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预计租借量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E0C0C-41E6-47A8-AD13-7444D471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765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13F5C-CC2C-4A43-A358-0C99E005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60FFB-C907-4049-BD58-716EB863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95500"/>
            <a:ext cx="1952625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AAFBF-1F9D-436E-B9CD-BE3F8B67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76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较上小时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38B31-C48A-456B-931E-020544A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955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61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+18%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F68DC-BF64-4354-BAC8-3D7EBD75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051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晚高峰上升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0EFEE4-AB86-43E3-B91E-1D5EE895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06:00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DB1CEC-33C4-43BE-A676-B97B6E1C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12:00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485B2-8CCB-4DE2-89DB-2D590D5A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18:00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2CA66-5C49-4FE0-B861-0CA7B09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953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23:00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872ECA-98F4-4548-A03E-5EDCA7A7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62450"/>
            <a:ext cx="190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C5B3A-CF22-47A0-8CC6-90F52AC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190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A12B8-9C44-4B18-B5B2-14626DB5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1905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D6CDF6-FAF5-430D-905A-25F69EAA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76700"/>
            <a:ext cx="190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E69898-1A60-4712-B13C-9882149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1905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9A63BF-B48E-4CB8-B890-35FCB651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62400"/>
            <a:ext cx="19050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3C6599-4DDF-4531-819D-AD654ADC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71950"/>
            <a:ext cx="190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</p:spTree>
    <p:extLst>
      <p:ext uri="{BB962C8B-B14F-4D97-AF65-F5344CB8AC3E}">
        <p14:creationId xmlns:p14="http://schemas.microsoft.com/office/powerpoint/2010/main" val="1699530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AEC9F-5832-43DF-A890-9B49326E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6C697-E7A4-46FD-8B69-3530C46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24C1B-9731-4BE6-B0C7-A1F81A8E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561B4-A292-472C-9477-BF25400E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8E9DC-6C71-4E15-A250-2764621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A3414-3C55-4F89-8499-829DB39A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E0F97-F4D6-4168-BF32-6F07DC61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41672-E943-4E0C-9F1B-41DE34DC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先定义可预测的目标，再说明每个输入在什么时候可获得。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E0E69-AAEE-4089-BA0A-4FC00EA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3429000" cy="3524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C6E82-C372-4635-9D94-FE3F48A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目标变量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0C3DCD-E124-429D-B895-8DF18E9E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56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Rented Bike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Count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88592-EB2D-41AD-B4EE-9EA7FB1D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每小时租借量</a:t>
            </a:r>
          </a:p>
          <a:p xmlns:a="http://schemas.openxmlformats.org/drawingml/2006/main">
            <a:pPr algn="l">
              <a:def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单位：辆 /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7DED4-C6C5-48DD-B35D-C70BAA91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29150"/>
            <a:ext cx="16192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EF907-308A-4ECE-A28F-1ADCA64E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连续数值 → 回归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9BE03-E048-4266-851F-9FDAAF29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7334250" cy="35242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C342E-684F-484B-A63D-14D242E8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UCI Seoul Bike Sharing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142D4-8CFB-480D-8D63-1146A01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574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8,760 条逐小时记录 · 2017-12 至 2018-11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D0B71-1F14-44BB-9D71-76D768A0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908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9CF59-320C-4668-B85C-6525655B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670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C1FCD-0E84-42A7-89F0-5CCB46F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28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日期 · 小时 · 星期 · 月份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3C7F29-7740-457C-A9AF-71D1E515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8142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3B0E9D-6DBD-4A50-96C4-71761689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5762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天气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ED34A-F84D-4894-9B29-53F60A2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19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温度 · 湿度 · 降雨 · 降雪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3BE9B-04B5-41B9-A41E-B6987084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71975"/>
            <a:ext cx="8763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3E6AA-DC1B-4FB9-B59C-2802FE76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00C205-88B8-4A7D-9C93-74787EAC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00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节假日 · 系统是否运行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3E84C-8256-4D8B-B17E-C531F3F6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6324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FF55CE-9F7E-43FE-9F68-71DF8F1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91100"/>
            <a:ext cx="505777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80EC0-B6CA-4311-A6BC-53F347C6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991100"/>
            <a:ext cx="1266825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5274C-A439-4F14-87A3-BC45985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578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80% 训练集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B1C3B9-A287-49D9-B908-9555EEB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257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20% 未来测试集</a:t>
            </a:r>
          </a:p>
        </p:txBody>
      </p:sp>
    </p:spTree>
    <p:extLst>
      <p:ext uri="{BB962C8B-B14F-4D97-AF65-F5344CB8AC3E}">
        <p14:creationId xmlns:p14="http://schemas.microsoft.com/office/powerpoint/2010/main" val="1755641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814431-0004-4EE0-8A9E-C6FDDE1A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237A38-4505-4D5E-A971-C63AB7D5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DAABE-BA61-41E4-BCD1-AA4E0FFF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C83E7-0499-49D6-9DBE-3366D5B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DF2AE-8848-489C-860F-C571D91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6A0F7-9B9B-435C-8E78-7CF63CEC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17D49-4752-401F-BCD1-DB9439EA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方法流程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99CE9-6A63-41F4-8EC5-408F70D9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网页与离线评估复用同一条 Pipeline，避免处理步骤不一致。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D34A4-48B4-4F44-8C16-E36964C6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1163300" cy="339090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C2925-CA6B-4DCB-BE53-794DD358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7BD52-CCCA-450A-B953-1A7BAA3C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C6793-BBFF-4B89-ACFD-BD2CE956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5233D-BDBA-4B04-A32F-3DBC9CF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 / 天气 / 运营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A25BD-D49D-476E-8A3E-208F51CA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56BC39-7EBF-40A7-8FD8-C2812EDD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76F2B-6437-444D-9A09-EE363DBF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E8801B-776D-4C8E-B347-E4A4B77D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统一预处理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F0116-A588-4981-9CE4-EFCC333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填补 · 编码 · 标准化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0E35B-FCA0-41E4-B479-7689A5AD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6A5F9-E241-4048-93AA-94B3E946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A4AB1D-420B-4A70-8480-DEB9F24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ADF8A-DA36-43B2-A388-AC555BE9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Ridge 回归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6AE7C-06E9-4725-9B02-8ACB8F95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学习连续租借量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F803B2-9A42-4A9E-B2DB-5B4B8364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57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BD73F-D73B-496F-8EE0-E9518F6C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209550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4B4E8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932545-8057-4DC4-AAE8-C8500EAA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6EEFC4-AB95-4924-B622-F8CD69E9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57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5AD12-6B97-4330-BC12-00A7D53E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576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网页返回预测值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72B45B-4B67-4441-990A-F6301EC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50ED1-5314-4A22-AD99-86C2D1CF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Pipeline.fit 只在训练集学习参数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F29AA-1566-4547-8866-344D530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2838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42538-59C3-407E-9348-0E72CA21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91050"/>
            <a:ext cx="2686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Pipeline.predict 复用同一处理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FB7989-0BC8-4D74-A964-45EAC1AE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72000"/>
            <a:ext cx="2190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BBD52-3D24-4695-908D-8B9FB96E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910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joblib 保存完整流程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246627-450F-4527-B3A0-EE54027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特征工程：weekday · month · temperature²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7AA9D-1E46-4AC5-8862-BCAB9E73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482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模型：Ridge(alpha = 10.0)</a:t>
            </a:r>
          </a:p>
        </p:txBody>
      </p:sp>
    </p:spTree>
    <p:extLst>
      <p:ext uri="{BB962C8B-B14F-4D97-AF65-F5344CB8AC3E}">
        <p14:creationId xmlns:p14="http://schemas.microsoft.com/office/powerpoint/2010/main" val="584815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E53FB6-1742-45F3-9528-83B039F8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DE995-1CA3-4686-84F3-D88FCF8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83DEE-F7BA-4E96-BEFB-97481FA0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B99CA-E1C3-4D0F-9DF0-2E8CC4CF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模型原理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F725C-91C4-4B12-BE19-A60A889C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4C0F5-3044-4A60-B539-5481AA09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FF38E-83FF-46B5-8CC5-6C46A55C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模型原理：Ridge 回归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D4B5-8C14-4D58-BAB5-A2B183C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平方损失负责拟合，L2 正则化负责控制系数规模。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2092-708D-44D6-915D-6DF370EB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6675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726F6-724D-4FE8-9D55-8041C54C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10668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75F678-8AEC-4490-831D-9A0EEF2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914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目标函数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12716-346D-43A5-B9A4-828ADA41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L(w,b) = (1 / 2n) ||y − Xw − b||₂² + α||w||₂²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1CB3C1-E618-4E5A-801D-3FF480BA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第一项：平方损失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EAEDA-8B5B-41B5-A344-12433B27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76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预测偏差越大，惩罚按平方增长。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44D6C-11D3-4D7D-8589-E6CAA409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第二项：L2 正则化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4BB26-5509-407B-8145-138600E7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96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把过大的系数拉向 0，减小过拟合。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C868E2-D45B-4F6F-A36D-FFF73BF8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4114800" cy="32385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7489B"/>
          </a:solidFill>
          <a:ln xmlns:a="http://schemas.openxmlformats.org/drawingml/2006/main" w="9525">
            <a:solidFill>
              <a:srgbClr val="17489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33E10-06B4-42BE-B47F-5DB8E9AB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代码里的对应关系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9D8A5-6262-48BF-9C46-2DA61E85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Ridge(alpha=10.0)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E089B-BDCC-48F9-81B8-18402E27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161B7-223C-4AF3-AABA-AC1948B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7657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6546B-852A-4F5E-9931-E08E0AD6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908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StandardScaler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122512-1023-4090-81F4-FF6145D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90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统一数值尺度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283D0-2BE2-455E-AC4A-B9F2B4CC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0C072-834C-4DFF-ADCB-0BCC20A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00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OneHotEncoder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520FE-7622-45C1-A6E9-D605A289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004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类别转 0/1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41BF2-58D9-4C0B-8D44-E3B4F0BD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95725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23F402-DC0B-4F77-97A6-E24B3EF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100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mean_absolute_error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CE05A-688B-4ABF-BB59-75C6A4D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1002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MAE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B38B-6FEC-4065-805D-A4A08828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78A"/>
          </a:solidFill>
          <a:ln xmlns:a="http://schemas.openxmlformats.org/drawingml/2006/main" w="9525">
            <a:solidFill>
              <a:srgbClr val="3A478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623886-9EAF-43BA-AD78-3FD0AAC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96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r2_score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D3DE89-CD30-4F77-8CA7-E314BA5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960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报告 R²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F6746E-2DD1-4AB7-8D05-848BFB12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报告指标：MAE = 平均相差多少辆；R² = 相对均值基线的改进。</a:t>
            </a:r>
          </a:p>
        </p:txBody>
      </p:sp>
    </p:spTree>
    <p:extLst>
      <p:ext uri="{BB962C8B-B14F-4D97-AF65-F5344CB8AC3E}">
        <p14:creationId xmlns:p14="http://schemas.microsoft.com/office/powerpoint/2010/main" val="8238228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485AAA-DF33-4228-9C22-3E6FB1F4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A104F-EDF9-4FD0-A02B-F7A593C3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702A1-EBE7-4AC2-AEEA-50C91914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BECCA-9E5F-4BCC-8763-D5F2361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07A02-BE29-4502-B47C-DC3D765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437A-F6EF-4CFD-80F0-530B33C9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41D0F-1344-4A53-B1E6-9C01686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测试集结果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7CC53-06B3-4298-A52A-52E82A74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温度二次项带来一定改善，但高峰时段仍有明显误差。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C2AEB-2A9A-4544-A838-63372B28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344805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4DF05-C862-4277-84F4-472CCDBF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292.86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22ADA-4AFA-4E6A-885C-6F966CBB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MAE · 辆 / 小时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1FF88-D16E-4527-822F-38900A8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0.509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3709B-531F-43DE-AB0E-52736AF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R² · 测试集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468B6-BCF5-4750-B253-3E0CE8A6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419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8FEF1-9B55-4416-8968-F29E390F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相比基线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3339A7-15CA-4DBE-9C9F-628D82DA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B0F4"/>
                </a:solidFill>
                <a:latin typeface="Microsoft YaHei"/>
                <a:ea typeface="Microsoft YaHei"/>
                <a:cs typeface="Microsoft YaHei"/>
              </a:rPr>
              <a:t>MAE −10.34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AEC1D-0F2A-4C71-AC63-BBB5157A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10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R² +0.035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F2E33-C58E-4675-A7CF-3385B239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9300"/>
            <a:ext cx="73914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2B8C4-3B41-41F0-B706-75AE1E96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0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MAE 对比（越低越好）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50A9B2-258B-444A-9C46-8BF1151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432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线性基线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52A9C-F882-4B71-AF36-2E156E93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2706A-F2DD-41EB-87BB-1B9DB1D5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385064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9AAB5"/>
          </a:solidFill>
          <a:ln xmlns:a="http://schemas.openxmlformats.org/drawingml/2006/main" w="9525">
            <a:solidFill>
              <a:srgbClr val="99AAB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19946-92CD-4809-838F-10122E34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303.20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714DC-C99C-4B29-87E0-5A8D6DCD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95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RideCast Ridge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727E7-5C18-4FCC-8642-7DE77EE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4191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25284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9956F1-EC11-4A61-929F-44DA568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3719322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1A6F5-AA12-4423-A43C-25D08DBE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95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292.86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2F64B-E6A6-42C7-90F2-EDEEDA3F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768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测试集：时间后 20% · 1,752 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847E6D-71CD-472A-8C18-DFB9F92C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476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8DA269-B4E5-4C12-8625-A7F333A4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38700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散点图与误差样本见 reports/</a:t>
            </a:r>
          </a:p>
        </p:txBody>
      </p:sp>
    </p:spTree>
    <p:extLst>
      <p:ext uri="{BB962C8B-B14F-4D97-AF65-F5344CB8AC3E}">
        <p14:creationId xmlns:p14="http://schemas.microsoft.com/office/powerpoint/2010/main" val="88799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39F5DD-1021-441D-B1E2-045EF5B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537DD-4DA8-46F5-88D5-A36E68B2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72DAE-AA9B-4669-B88C-7FBB7B12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3C6C0-E32B-473A-8707-A3177BBB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解释与误差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A430E-51D2-4DE9-A88C-B80249BB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F126-29CE-471F-BD73-467B1AB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3F24F-1FB4-4DF5-B0B3-C6DC78C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模型解释与最大误差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062D7-D5D1-4918-AE84-FF1C592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系数说明条件相关性，误差样本说明模型还缺少哪些信息。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452DA-BB36-4E48-BCB2-D67FF4E2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286375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5E54"/>
          </a:solidFill>
          <a:ln xmlns:a="http://schemas.openxmlformats.org/drawingml/2006/main" w="9525">
            <a:solidFill>
              <a:srgbClr val="075E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ED721-13B8-4FF7-AEC1-BB8FF5D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系数（前几项）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F3924-CA0C-4C42-BFF8-2DE39A33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运行日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36CF3-BE37-4644-92FA-80D21D5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908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48F68-E27C-48CD-ABC7-437A5996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1867198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7EC9D-20B8-4F86-9868-7E35E55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+765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3073D-BF80-4273-A475-641E2D46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温度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AAF98-F40C-497E-8FD9-4B420F52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82E5D-BABB-4B47-BBF9-50F39329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90900"/>
            <a:ext cx="1115437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91F2"/>
          </a:solidFill>
          <a:ln xmlns:a="http://schemas.openxmlformats.org/drawingml/2006/main" w="9525">
            <a:solidFill>
              <a:srgbClr val="8891F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CC5F-91E3-42B1-A597-104180B0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+457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8CAAB-16D9-474E-BDBF-F26AA2AA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1F105-1B8D-497C-8EE9-693D0E7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814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FFA99-EF28-474B-AD8A-48043167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466189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4"/>
          </a:solidFill>
          <a:ln xmlns:a="http://schemas.openxmlformats.org/drawingml/2006/main" w="9525">
            <a:solidFill>
              <a:srgbClr val="00B0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9B298-A811-4F27-8BB2-DA69FF8B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+191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F3B7D-FE0B-4AD0-A116-9DBEC623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湿度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68F1FE-1397-4279-83C7-F6197D7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876B"/>
          </a:solidFill>
          <a:ln xmlns:a="http://schemas.openxmlformats.org/drawingml/2006/main" w="9525">
            <a:solidFill>
              <a:srgbClr val="2C87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A7F769-95F3-4433-9E7F-79209AF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448" y="4381500"/>
            <a:ext cx="317302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50764-C9AD-4643-80E2-F4E768D5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-130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19452-3515-4F16-8CAA-5E8A7DBC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数值特征已标准化，系数表示增加一个标准差的影响。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E739E-EAE8-4984-BF03-F12412A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550545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5670DA-FDFB-4737-95D6-F3A68E7E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A220"/>
          </a:solidFill>
          <a:ln xmlns:a="http://schemas.openxmlformats.org/drawingml/2006/main" w="9525">
            <a:solidFill>
              <a:srgbClr val="FDA22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4DA7D-0499-4D93-AFA7-59785B53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776D5-1848-4985-8D9B-999B9734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2018-10-01 · 18:00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346CD9-597F-41C4-8789-4762463B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实际 2,857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62AE7F-0A97-462E-A596-23B31868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91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91AC"/>
                </a:solidFill>
                <a:latin typeface="Microsoft YaHei"/>
                <a:ea typeface="Microsoft YaHei"/>
                <a:cs typeface="Microsoft YaHei"/>
              </a:rPr>
              <a:t>预测 1,010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87FD2-B3D5-4A95-B498-80ECFC02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4267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69A55F-0C39-4490-B41F-A14CCDEE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绝对误差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846D6B-C3AF-4057-9BEE-9ADBF3E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3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DA220"/>
                </a:solidFill>
                <a:latin typeface="Microsoft YaHei"/>
                <a:ea typeface="Microsoft YaHei"/>
                <a:cs typeface="Microsoft YaHei"/>
              </a:rPr>
              <a:t>1,847 辆 / 小时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CB93CB-7754-4427-BA87-C9BF4770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当前输入没有活动、库存、站点分布和交通状态，模型难以识别异常高峰。</a:t>
            </a:r>
          </a:p>
        </p:txBody>
      </p:sp>
    </p:spTree>
    <p:extLst>
      <p:ext uri="{BB962C8B-B14F-4D97-AF65-F5344CB8AC3E}">
        <p14:creationId xmlns:p14="http://schemas.microsoft.com/office/powerpoint/2010/main" val="13316513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DBBF36-C5A7-46A7-9560-62EAF362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35A90-9ED2-4B3A-BF5A-B3E5652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534E4-0B5B-449A-9546-C4D317BE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1B07B-EDBF-4DD9-9883-E52F70EF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网页演示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E35E8-299C-4E94-A359-C6D5C1B4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2AA16-8A06-48C3-8087-0AAB05F7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D7BAB-DFCA-4B9E-BE19-C359453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网页与后端调用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79724-F2FD-4E03-A4B9-3C3B4541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用户提交原始字段，Flask 调用启动时加载的完整 Pipeline。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AA17-5A6C-4A6D-B112-1F8C6168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685800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1752F-DF00-420E-BE29-0EFEE133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在线估计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E7A46-A61F-4D13-A336-D1449EC4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输入条件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42FD9-5D05-4E44-848D-11E2CA02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5C5251-A343-4E1F-9FFF-D1643B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AE3B2D-E94E-49A5-A954-1F1E5BE1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2026-09-22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67DC15-CDB2-40B2-91E9-FAC7594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小时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12D54-E734-4E09-97F6-A3AF21E2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766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FAE61-095A-43A9-945F-0D1234A2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17:00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260AA5-3BF9-4EDF-8C62-B41561F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温度 / 湿度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09865-5AE5-4087-99C1-DA7A523B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25C08-E6A6-4B4A-B47A-20A2247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18°C  /  55%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532C5E-372C-4E97-9309-6C1E9353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降雨 / 降雪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62E98-2B1E-4A5E-90E2-21B61B56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62400"/>
            <a:ext cx="2571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52846"/>
          </a:solidFill>
          <a:ln xmlns:a="http://schemas.openxmlformats.org/drawingml/2006/main" w="9525">
            <a:solidFill>
              <a:srgbClr val="45496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805C0E-82F5-4C73-AA8F-1E996094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 mm  /  0 cm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41F80-93B5-4EC2-816D-939D8586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5562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FB6076-263B-4B60-AAF0-07E9AC04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估计租借需求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7FF4D-62E3-4BBF-B81B-11757B00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3727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86E87-427A-4E65-88F6-C1E53AD3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39433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B47931-5E05-4022-9273-F69232D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14287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091D"/>
          </a:solidFill>
          <a:ln xmlns:a="http://schemas.openxmlformats.org/drawingml/2006/main" w="9525">
            <a:solidFill>
              <a:srgbClr val="08091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DA8CA-FE95-4B6E-A6FC-BC4192D6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FLASK /predict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71A30-492C-4F96-B356-2C6E5B69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1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1,095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CB21CF-EF8A-4A20-86D3-D5CD2FFC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辆 / 小时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19F7E3-0998-41A1-8E78-87D142E9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86F5"/>
          </a:solidFill>
          <a:ln xmlns:a="http://schemas.openxmlformats.org/drawingml/2006/main" w="9525">
            <a:solidFill>
              <a:srgbClr val="7E86F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CDF93C-EED0-42DA-9213-C9D8DFA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0FF"/>
                </a:solidFill>
                <a:latin typeface="Microsoft YaHei"/>
                <a:ea typeface="Microsoft YaHei"/>
                <a:cs typeface="Microsoft YaHei"/>
              </a:rPr>
              <a:t>模型状态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31FE51-080A-48E9-A4A4-A4205614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76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joblib Pipeline loaded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E7997-8462-48D9-BBCB-6165F2F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ridecast-ml-homework-1.onrender.com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EA1EEE-9B21-4F74-AE74-2E78BB15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429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89E90-7B29-44D6-A6FD-DE136D5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943600"/>
            <a:ext cx="327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POST JSON → predict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7212482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0F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6CA044-7749-401A-92F4-03E144C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5865F2"/>
          </a:solidFill>
          <a:ln xmlns:a="http://schemas.openxmlformats.org/drawingml/2006/main" w="9525">
            <a:solidFill>
              <a:srgbClr val="5865F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46F1B-97BF-40A4-ACA4-FD729508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D2D57-5C93-48EC-960B-8CFEB4DA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RIDECAST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B90F6-1C06-421B-A0F8-72360020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B2F81-42DF-4D54-B650-9CB2E7AD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254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AAA18-A192-4359-8DB1-2F92383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57225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99AAB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F4851-4E6F-40C9-A669-8C9C6D43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结论与下一步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EB625-BBE8-4A19-AA2A-B5B19D82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当前结果适合课堂演示和相近条件下的小时级估计。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ED50E-72C0-4F2C-AF53-668984C5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495300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4C2D91"/>
          </a:solidFill>
          <a:ln xmlns:a="http://schemas.openxmlformats.org/drawingml/2006/main" w="9525">
            <a:solidFill>
              <a:srgbClr val="4C2D9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4AB3-456D-442A-891E-320D0D6A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990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530A4-4C45-465A-AAB1-57A7CF2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本次完成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C7FDD-6726-46D4-96CE-7B336E57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3819F-4786-49EB-8E94-74376803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33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模型：Ridge + temperature²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B7315-6B53-452A-A234-CF96777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B8ACC-D72E-42AD-89F3-ECDC6F3A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004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评价：MAE 292.86 · R² 0.509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EAB98-AB2C-4680-8328-B13F2F55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11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9FEC4-E037-434D-8608-44ADEC5F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工程：Pipeline + Flask + 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1D287-A56B-4EBB-A40F-A7497C0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5772150" cy="33718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936"/>
          </a:solidFill>
          <a:ln xmlns:a="http://schemas.openxmlformats.org/drawingml/2006/main" w="9525">
            <a:solidFill>
              <a:srgbClr val="30325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BE2A9-749E-43D1-BF65-49F04A6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05050"/>
            <a:ext cx="1333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F287"/>
          </a:solidFill>
          <a:ln xmlns:a="http://schemas.openxmlformats.org/drawingml/2006/main" w="9525">
            <a:solidFill>
              <a:srgbClr val="57F2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F00223-7354-4AE6-A655-71943811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181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8091D"/>
                </a:solidFill>
                <a:latin typeface="Microsoft YaHei"/>
                <a:ea typeface="Microsoft YaHei"/>
                <a:cs typeface="Microsoft YaHei"/>
              </a:rPr>
              <a:t>局限与下一步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C3109-6978-4A27-ABE2-EDA0A34A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956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033238-DC12-4F1D-A0D6-7529A220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76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只有首尔数据，跨城市需要重新训练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5CD84-4107-428E-BB68-94DD57E8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718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D44E1-A81F-473F-B110-31C545C1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52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缺少活动、库存、站点与交通状态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50672-0135-419C-9320-0CD53CB0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481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CA714-9ADE-4386-ADB3-438E63DB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极端天气属于外推，需更多实时特征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1F11B6-F1C5-4235-95D3-C05B345F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2435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59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F287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B97ED-0009-4A19-88CB-946FEDBE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ABCD9"/>
                </a:solidFill>
                <a:latin typeface="Microsoft YaHei"/>
                <a:ea typeface="Microsoft YaHei"/>
                <a:cs typeface="Microsoft YaHei"/>
              </a:rPr>
              <a:t>下一步：滚动历史需求 + 交叉验证比较树模型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F864AE-C70F-43D9-8B99-CEBCE122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89C69-1FA2-4333-8BE5-7C7C9010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9150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8891F2"/>
                </a:solidFill>
                <a:latin typeface="Microsoft YaHei"/>
                <a:ea typeface="Microsoft YaHei"/>
                <a:cs typeface="Microsoft YaHei"/>
              </a:rPr>
              <a:t>欢迎提问：为什么 Ridge？损失函数是什么？最大误差为什么大？</a:t>
            </a:r>
          </a:p>
        </p:txBody>
      </p:sp>
    </p:spTree>
    <p:extLst>
      <p:ext uri="{BB962C8B-B14F-4D97-AF65-F5344CB8AC3E}">
        <p14:creationId xmlns:p14="http://schemas.microsoft.com/office/powerpoint/2010/main" val="1730008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2026-09-27T15:46:05.2870000Z</dcterms:created>
  <dcterms:modified xsi:type="dcterms:W3CDTF">2026-09-27T15:46:05.2870000Z</dcterms:modified>
</coreProperties>
</file>